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00B800"/>
    <a:srgbClr val="B453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jp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8.jpe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9.png"/><Relationship Id="rId7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0.png"/><Relationship Id="rId4" Type="http://schemas.openxmlformats.org/officeDocument/2006/relationships/image" Target="../media/image26.png"/><Relationship Id="rId9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8.jpeg"/><Relationship Id="rId4" Type="http://schemas.openxmlformats.org/officeDocument/2006/relationships/image" Target="../media/image20.png"/><Relationship Id="rId9" Type="http://schemas.openxmlformats.org/officeDocument/2006/relationships/image" Target="../media/image3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4.png"/><Relationship Id="rId18" Type="http://schemas.openxmlformats.org/officeDocument/2006/relationships/image" Target="../media/image49.png"/><Relationship Id="rId26" Type="http://schemas.openxmlformats.org/officeDocument/2006/relationships/image" Target="../media/image57.png"/><Relationship Id="rId39" Type="http://schemas.openxmlformats.org/officeDocument/2006/relationships/image" Target="../media/image70.png"/><Relationship Id="rId21" Type="http://schemas.openxmlformats.org/officeDocument/2006/relationships/image" Target="../media/image52.png"/><Relationship Id="rId34" Type="http://schemas.openxmlformats.org/officeDocument/2006/relationships/image" Target="../media/image65.png"/><Relationship Id="rId42" Type="http://schemas.openxmlformats.org/officeDocument/2006/relationships/image" Target="../media/image73.png"/><Relationship Id="rId7" Type="http://schemas.openxmlformats.org/officeDocument/2006/relationships/image" Target="../media/image38.png"/><Relationship Id="rId2" Type="http://schemas.openxmlformats.org/officeDocument/2006/relationships/image" Target="../media/image1.png"/><Relationship Id="rId16" Type="http://schemas.openxmlformats.org/officeDocument/2006/relationships/image" Target="../media/image47.png"/><Relationship Id="rId29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24" Type="http://schemas.openxmlformats.org/officeDocument/2006/relationships/image" Target="../media/image55.png"/><Relationship Id="rId32" Type="http://schemas.openxmlformats.org/officeDocument/2006/relationships/image" Target="../media/image63.png"/><Relationship Id="rId37" Type="http://schemas.openxmlformats.org/officeDocument/2006/relationships/image" Target="../media/image68.png"/><Relationship Id="rId40" Type="http://schemas.openxmlformats.org/officeDocument/2006/relationships/image" Target="../media/image71.png"/><Relationship Id="rId45" Type="http://schemas.openxmlformats.org/officeDocument/2006/relationships/image" Target="../media/image76.png"/><Relationship Id="rId5" Type="http://schemas.openxmlformats.org/officeDocument/2006/relationships/image" Target="../media/image36.png"/><Relationship Id="rId15" Type="http://schemas.openxmlformats.org/officeDocument/2006/relationships/image" Target="../media/image46.png"/><Relationship Id="rId23" Type="http://schemas.openxmlformats.org/officeDocument/2006/relationships/image" Target="../media/image54.png"/><Relationship Id="rId28" Type="http://schemas.openxmlformats.org/officeDocument/2006/relationships/image" Target="../media/image59.png"/><Relationship Id="rId36" Type="http://schemas.openxmlformats.org/officeDocument/2006/relationships/image" Target="../media/image67.png"/><Relationship Id="rId10" Type="http://schemas.openxmlformats.org/officeDocument/2006/relationships/image" Target="../media/image41.png"/><Relationship Id="rId19" Type="http://schemas.openxmlformats.org/officeDocument/2006/relationships/image" Target="../media/image50.png"/><Relationship Id="rId31" Type="http://schemas.openxmlformats.org/officeDocument/2006/relationships/image" Target="../media/image62.png"/><Relationship Id="rId44" Type="http://schemas.openxmlformats.org/officeDocument/2006/relationships/image" Target="../media/image75.png"/><Relationship Id="rId4" Type="http://schemas.openxmlformats.org/officeDocument/2006/relationships/image" Target="../media/image8.jpeg"/><Relationship Id="rId9" Type="http://schemas.openxmlformats.org/officeDocument/2006/relationships/image" Target="../media/image40.png"/><Relationship Id="rId14" Type="http://schemas.openxmlformats.org/officeDocument/2006/relationships/image" Target="../media/image45.png"/><Relationship Id="rId22" Type="http://schemas.openxmlformats.org/officeDocument/2006/relationships/image" Target="../media/image53.png"/><Relationship Id="rId27" Type="http://schemas.openxmlformats.org/officeDocument/2006/relationships/image" Target="../media/image58.png"/><Relationship Id="rId30" Type="http://schemas.openxmlformats.org/officeDocument/2006/relationships/image" Target="../media/image61.png"/><Relationship Id="rId35" Type="http://schemas.openxmlformats.org/officeDocument/2006/relationships/image" Target="../media/image66.png"/><Relationship Id="rId43" Type="http://schemas.openxmlformats.org/officeDocument/2006/relationships/image" Target="../media/image74.png"/><Relationship Id="rId8" Type="http://schemas.openxmlformats.org/officeDocument/2006/relationships/image" Target="../media/image39.png"/><Relationship Id="rId3" Type="http://schemas.openxmlformats.org/officeDocument/2006/relationships/image" Target="../media/image9.pn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5" Type="http://schemas.openxmlformats.org/officeDocument/2006/relationships/image" Target="../media/image56.png"/><Relationship Id="rId33" Type="http://schemas.openxmlformats.org/officeDocument/2006/relationships/image" Target="../media/image64.png"/><Relationship Id="rId38" Type="http://schemas.openxmlformats.org/officeDocument/2006/relationships/image" Target="../media/image69.png"/><Relationship Id="rId20" Type="http://schemas.openxmlformats.org/officeDocument/2006/relationships/image" Target="../media/image51.png"/><Relationship Id="rId41" Type="http://schemas.openxmlformats.org/officeDocument/2006/relationships/image" Target="../media/image7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4375" y="385762"/>
            <a:ext cx="3400425" cy="238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6840" y="4592835"/>
            <a:ext cx="8938170" cy="4381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3450" y="2503140"/>
            <a:ext cx="2705100" cy="3333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95462" y="3065115"/>
            <a:ext cx="8601075" cy="670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lang="es-CL" sz="4800" b="0" i="0" u="none" noProof="0" dirty="0">
                <a:solidFill>
                  <a:srgbClr val="0F172A"/>
                </a:solidFill>
                <a:latin typeface="Poppins ExtraBold"/>
              </a:rPr>
              <a:t>PROYECTO </a:t>
            </a:r>
            <a:r>
              <a:rPr lang="es-CL" sz="4800" b="0" i="0" u="none" noProof="0" dirty="0">
                <a:solidFill>
                  <a:srgbClr val="D97706"/>
                </a:solidFill>
                <a:latin typeface="Poppins ExtraBold"/>
              </a:rPr>
              <a:t>“</a:t>
            </a:r>
            <a:r>
              <a:rPr lang="es-CL" sz="4800" b="0" i="0" u="none" noProof="0" dirty="0" err="1">
                <a:solidFill>
                  <a:srgbClr val="D97706"/>
                </a:solidFill>
                <a:latin typeface="Poppins ExtraBold"/>
              </a:rPr>
              <a:t>PrácticaHUB</a:t>
            </a:r>
            <a:r>
              <a:rPr lang="es-CL" sz="4800" b="0" i="0" u="none" noProof="0" dirty="0">
                <a:solidFill>
                  <a:srgbClr val="D97706"/>
                </a:solidFill>
                <a:latin typeface="Poppins ExtraBold"/>
              </a:rPr>
              <a:t>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57612" y="3887985"/>
            <a:ext cx="467677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950" b="0" i="0" u="none" noProof="0" dirty="0">
                <a:solidFill>
                  <a:srgbClr val="475569"/>
                </a:solidFill>
                <a:latin typeface="DM Sans Medium"/>
              </a:rPr>
              <a:t>FASE 1 · EXPOSICIÓN IDEA DE PROYECTO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67832" y="4849173"/>
            <a:ext cx="2105025" cy="1731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s-CL" sz="1125" b="1" i="0" u="none" noProof="0" dirty="0">
                <a:solidFill>
                  <a:srgbClr val="64748B"/>
                </a:solidFill>
                <a:latin typeface="DM Sans"/>
              </a:rPr>
              <a:t>Docente: </a:t>
            </a:r>
            <a:r>
              <a:rPr lang="es-CL" sz="1125" i="0" u="none" noProof="0" dirty="0">
                <a:solidFill>
                  <a:srgbClr val="64748B"/>
                </a:solidFill>
                <a:latin typeface="DM Sans"/>
              </a:rPr>
              <a:t>María Ignacia Cobo 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9701" y="4864298"/>
            <a:ext cx="180975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1890" y="4849173"/>
            <a:ext cx="104775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76951" y="4864298"/>
            <a:ext cx="123825" cy="142875"/>
          </a:xfrm>
          <a:prstGeom prst="rect">
            <a:avLst/>
          </a:prstGeom>
        </p:spPr>
      </p:pic>
      <p:pic>
        <p:nvPicPr>
          <p:cNvPr id="13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74600"/>
            <a:ext cx="1841785" cy="460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8375" y="385762"/>
            <a:ext cx="1876425" cy="238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5102274"/>
            <a:ext cx="11277600" cy="4381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641845"/>
            <a:ext cx="3632150" cy="226992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9850" y="2641847"/>
            <a:ext cx="3632150" cy="226992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2500" y="2641847"/>
            <a:ext cx="3632299" cy="22699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25" y="3887241"/>
            <a:ext cx="133350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79875" y="3887241"/>
            <a:ext cx="16954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2525" y="3887241"/>
            <a:ext cx="1476375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981075"/>
            <a:ext cx="11734800" cy="3504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760"/>
              </a:lnSpc>
            </a:pPr>
            <a:r>
              <a:rPr lang="es-CL" sz="2400" b="1" i="0" u="none" noProof="0" dirty="0">
                <a:solidFill>
                  <a:srgbClr val="0F172A"/>
                </a:solidFill>
                <a:latin typeface="Poppins"/>
              </a:rPr>
              <a:t>Integrantes del Proyecto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853" y="5235624"/>
            <a:ext cx="32194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050" b="0" i="0" u="none" noProof="0" dirty="0">
                <a:solidFill>
                  <a:srgbClr val="1E293B"/>
                </a:solidFill>
                <a:latin typeface="DM Sans SemiBold"/>
              </a:rPr>
              <a:t>Carrera:</a:t>
            </a:r>
            <a:r>
              <a:rPr lang="es-CL" sz="1050" b="0" i="0" u="none" noProof="0" dirty="0">
                <a:solidFill>
                  <a:srgbClr val="475569"/>
                </a:solidFill>
                <a:latin typeface="DM Sans"/>
              </a:rPr>
              <a:t> Ingeniería en Informática | </a:t>
            </a:r>
            <a:r>
              <a:rPr lang="es-CL" sz="1050" b="0" i="0" u="none" noProof="0" dirty="0">
                <a:solidFill>
                  <a:srgbClr val="1E293B"/>
                </a:solidFill>
                <a:latin typeface="DM Sans SemiBold"/>
              </a:rPr>
              <a:t>Sede:</a:t>
            </a:r>
            <a:r>
              <a:rPr lang="es-CL" sz="1050" b="0" i="0" u="none" noProof="0" dirty="0">
                <a:solidFill>
                  <a:srgbClr val="475569"/>
                </a:solidFill>
                <a:latin typeface="DM Sans"/>
              </a:rPr>
              <a:t> Valparaíso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0100" y="5235624"/>
            <a:ext cx="23622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050" b="0" i="0" u="none" noProof="0" dirty="0">
                <a:solidFill>
                  <a:srgbClr val="1E293B"/>
                </a:solidFill>
                <a:latin typeface="DM Sans SemiBold"/>
              </a:rPr>
              <a:t>Docente Guía: María Ignacia Cobo</a:t>
            </a:r>
            <a:r>
              <a:rPr lang="es-CL" sz="1050" b="0" i="0" u="none" noProof="0" dirty="0">
                <a:solidFill>
                  <a:srgbClr val="475569"/>
                </a:solidFill>
                <a:latin typeface="DM Sans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225" y="3287166"/>
            <a:ext cx="3232100" cy="196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275" b="1" i="0" u="none" noProof="0" dirty="0">
                <a:solidFill>
                  <a:srgbClr val="0F172A"/>
                </a:solidFill>
                <a:latin typeface="Poppins"/>
              </a:rPr>
              <a:t>Yuliana Román Briceño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225" y="3630066"/>
            <a:ext cx="32321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975" b="0" i="0" u="none" noProof="0" dirty="0">
                <a:solidFill>
                  <a:srgbClr val="64748B"/>
                </a:solidFill>
                <a:latin typeface="DM Sans SemiBold"/>
              </a:rPr>
              <a:t>RUT: 21.382.240-3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225" y="4192041"/>
            <a:ext cx="3232100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lang="es-CL" sz="975" b="0" i="0" u="none" noProof="0" dirty="0">
                <a:solidFill>
                  <a:srgbClr val="475569"/>
                </a:solidFill>
                <a:latin typeface="DM Sans"/>
              </a:rPr>
              <a:t>Configuración de Spring Boot, Spring Security, cifrado </a:t>
            </a:r>
            <a:r>
              <a:rPr lang="es-CL" sz="975" b="0" i="0" u="none" noProof="0" dirty="0" err="1">
                <a:solidFill>
                  <a:srgbClr val="475569"/>
                </a:solidFill>
                <a:latin typeface="DM Sans"/>
              </a:rPr>
              <a:t>BCrypt</a:t>
            </a:r>
            <a:r>
              <a:rPr lang="es-CL" sz="975" b="0" i="0" u="none" noProof="0" dirty="0">
                <a:solidFill>
                  <a:srgbClr val="475569"/>
                </a:solidFill>
                <a:latin typeface="DM Sans"/>
              </a:rPr>
              <a:t>, autenticación JWT, entidades JPA y regla de inmutabilidad.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9875" y="3287166"/>
            <a:ext cx="32321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275" b="1" i="0" u="none" noProof="0" dirty="0">
                <a:solidFill>
                  <a:srgbClr val="0F172A"/>
                </a:solidFill>
                <a:latin typeface="Poppins"/>
              </a:rPr>
              <a:t>Nicolás </a:t>
            </a:r>
            <a:r>
              <a:rPr lang="es-CL" sz="1275" b="1" i="0" u="none" noProof="0" dirty="0" err="1">
                <a:solidFill>
                  <a:srgbClr val="0F172A"/>
                </a:solidFill>
                <a:latin typeface="Poppins"/>
              </a:rPr>
              <a:t>Fernandez</a:t>
            </a:r>
            <a:endParaRPr lang="es-CL" sz="1275" b="1" i="0" u="none" noProof="0" dirty="0">
              <a:solidFill>
                <a:srgbClr val="0F172A"/>
              </a:solidFill>
              <a:latin typeface="Poppi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479875" y="3630066"/>
            <a:ext cx="32321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975" b="0" i="0" u="none" noProof="0" dirty="0">
                <a:solidFill>
                  <a:srgbClr val="64748B"/>
                </a:solidFill>
                <a:latin typeface="DM Sans SemiBold"/>
              </a:rPr>
              <a:t>RUT: 21.199.743-5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9875" y="4192041"/>
            <a:ext cx="3232100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lang="es-CL" sz="975" b="0" i="0" u="none" noProof="0" dirty="0">
                <a:solidFill>
                  <a:srgbClr val="475569"/>
                </a:solidFill>
                <a:latin typeface="DM Sans"/>
              </a:rPr>
              <a:t>Diseño UI/UX en </a:t>
            </a:r>
            <a:r>
              <a:rPr lang="es-CL" sz="975" b="0" i="0" u="none" noProof="0" dirty="0" err="1">
                <a:solidFill>
                  <a:srgbClr val="475569"/>
                </a:solidFill>
                <a:latin typeface="DM Sans"/>
              </a:rPr>
              <a:t>Figma</a:t>
            </a:r>
            <a:r>
              <a:rPr lang="es-CL" sz="975" b="0" i="0" u="none" noProof="0" dirty="0">
                <a:solidFill>
                  <a:srgbClr val="475569"/>
                </a:solidFill>
                <a:latin typeface="DM Sans"/>
              </a:rPr>
              <a:t>, desarrollo SPA en </a:t>
            </a:r>
            <a:r>
              <a:rPr lang="es-CL" sz="975" b="0" i="0" u="none" noProof="0" dirty="0" err="1">
                <a:solidFill>
                  <a:srgbClr val="475569"/>
                </a:solidFill>
                <a:latin typeface="DM Sans"/>
              </a:rPr>
              <a:t>React</a:t>
            </a:r>
            <a:r>
              <a:rPr lang="es-CL" sz="975" b="0" i="0" u="none" noProof="0" dirty="0">
                <a:solidFill>
                  <a:srgbClr val="475569"/>
                </a:solidFill>
                <a:latin typeface="DM Sans"/>
              </a:rPr>
              <a:t>, rutas protegidas, consumo de API REST con Axios y reportes visuales con Chart.js.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525" y="3287166"/>
            <a:ext cx="3232249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275" b="1" i="0" u="none" noProof="0" dirty="0">
                <a:solidFill>
                  <a:srgbClr val="0F172A"/>
                </a:solidFill>
                <a:latin typeface="Poppins"/>
              </a:rPr>
              <a:t>Jonatán Barrios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525" y="3630066"/>
            <a:ext cx="3232249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975" b="0" i="0" u="none" noProof="0" dirty="0">
                <a:solidFill>
                  <a:srgbClr val="64748B"/>
                </a:solidFill>
                <a:latin typeface="DM Sans SemiBold"/>
              </a:rPr>
              <a:t>RUT: 20.995.153-3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525" y="4192041"/>
            <a:ext cx="3232249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lang="es-CL" sz="975" b="0" i="0" u="none" noProof="0" dirty="0">
                <a:solidFill>
                  <a:srgbClr val="475569"/>
                </a:solidFill>
                <a:latin typeface="DM Sans"/>
              </a:rPr>
              <a:t>Modelado de datos en PostgreSQL, Docker </a:t>
            </a:r>
            <a:r>
              <a:rPr lang="es-CL" sz="975" b="0" i="0" u="none" noProof="0" dirty="0" err="1">
                <a:solidFill>
                  <a:srgbClr val="475569"/>
                </a:solidFill>
                <a:latin typeface="DM Sans"/>
              </a:rPr>
              <a:t>Compose</a:t>
            </a:r>
            <a:r>
              <a:rPr lang="es-CL" sz="975" b="0" i="0" u="none" noProof="0" dirty="0">
                <a:solidFill>
                  <a:srgbClr val="475569"/>
                </a:solidFill>
                <a:latin typeface="DM Sans"/>
              </a:rPr>
              <a:t>, cálculo dinámico de horas, especificación de requerimientos y certificación QA.</a:t>
            </a:r>
          </a:p>
        </p:txBody>
      </p:sp>
      <p:pic>
        <p:nvPicPr>
          <p:cNvPr id="32" name="Picture 11">
            <a:extLst>
              <a:ext uri="{FF2B5EF4-FFF2-40B4-BE49-F238E27FC236}">
                <a16:creationId xmlns:a16="http://schemas.microsoft.com/office/drawing/2014/main" id="{EA9B94C3-2FD3-A120-DA8E-B7A33264951E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0051163" y="2937095"/>
            <a:ext cx="1490847" cy="1157687"/>
          </a:xfrm>
          <a:prstGeom prst="roundRect">
            <a:avLst/>
          </a:prstGeom>
        </p:spPr>
      </p:pic>
      <p:pic>
        <p:nvPicPr>
          <p:cNvPr id="34" name="Picture 11">
            <a:extLst>
              <a:ext uri="{FF2B5EF4-FFF2-40B4-BE49-F238E27FC236}">
                <a16:creationId xmlns:a16="http://schemas.microsoft.com/office/drawing/2014/main" id="{1F8BF9AE-FECF-CA44-BA14-56E5F24A1FC4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9270" b="18086"/>
          <a:stretch>
            <a:fillRect/>
          </a:stretch>
        </p:blipFill>
        <p:spPr>
          <a:xfrm>
            <a:off x="2748057" y="2874465"/>
            <a:ext cx="1191331" cy="1154221"/>
          </a:xfrm>
          <a:prstGeom prst="roundRect">
            <a:avLst/>
          </a:prstGeom>
        </p:spPr>
      </p:pic>
      <p:pic>
        <p:nvPicPr>
          <p:cNvPr id="36" name="Picture 11">
            <a:extLst>
              <a:ext uri="{FF2B5EF4-FFF2-40B4-BE49-F238E27FC236}">
                <a16:creationId xmlns:a16="http://schemas.microsoft.com/office/drawing/2014/main" id="{E47D5FA9-FC9A-0F69-0E41-441E7B79C246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21876"/>
          <a:stretch>
            <a:fillRect/>
          </a:stretch>
        </p:blipFill>
        <p:spPr>
          <a:xfrm>
            <a:off x="6538527" y="2874465"/>
            <a:ext cx="1173448" cy="1222326"/>
          </a:xfrm>
          <a:prstGeom prst="roundRect">
            <a:avLst>
              <a:gd name="adj" fmla="val 18226"/>
            </a:avLst>
          </a:prstGeom>
        </p:spPr>
      </p:pic>
      <p:pic>
        <p:nvPicPr>
          <p:cNvPr id="38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475931D1-ED70-A4E7-5203-01359F357C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74600"/>
            <a:ext cx="1841785" cy="460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8375" y="385762"/>
            <a:ext cx="1876425" cy="238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514166"/>
            <a:ext cx="5505450" cy="372534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350" y="1483965"/>
            <a:ext cx="5505450" cy="37555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981075"/>
            <a:ext cx="11734800" cy="3504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760"/>
              </a:lnSpc>
            </a:pPr>
            <a:r>
              <a:rPr lang="es-CL" sz="2400" b="1" i="0" u="none" noProof="0" dirty="0">
                <a:solidFill>
                  <a:srgbClr val="0F172A"/>
                </a:solidFill>
                <a:latin typeface="Poppins"/>
              </a:rPr>
              <a:t>Descripción del Proyecto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325" y="1750665"/>
            <a:ext cx="419100" cy="4191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28725" y="1817340"/>
            <a:ext cx="2771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i="0" u="none" noProof="0" dirty="0">
                <a:solidFill>
                  <a:srgbClr val="0F172A"/>
                </a:solidFill>
                <a:latin typeface="Poppins"/>
              </a:rPr>
              <a:t>Problema o Dolor Detectado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2322165"/>
            <a:ext cx="4800600" cy="6042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s-CL" sz="1200" b="1" i="0" u="none" noProof="0" dirty="0">
                <a:solidFill>
                  <a:srgbClr val="0F172A"/>
                </a:solidFill>
                <a:latin typeface="DM Sans SemiBold"/>
              </a:rPr>
              <a:t>Gestión Dispersa y Desorden:</a:t>
            </a:r>
            <a:r>
              <a:rPr lang="es-CL" sz="1200" b="1" i="0" u="none" noProof="0" dirty="0">
                <a:solidFill>
                  <a:srgbClr val="334155"/>
                </a:solidFill>
                <a:latin typeface="DM Sans"/>
              </a:rPr>
              <a:t> </a:t>
            </a:r>
            <a:r>
              <a:rPr lang="es-CL" sz="1090" b="0" i="0" u="none" noProof="0" dirty="0">
                <a:solidFill>
                  <a:srgbClr val="334155"/>
                </a:solidFill>
                <a:latin typeface="DM Sans"/>
              </a:rPr>
              <a:t>El registro de horas, actividades diarias y evidencias se realiza mediante planillas Excel, correos y mensajería informal.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2907335"/>
            <a:ext cx="4800600" cy="400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s-CL" sz="1200" b="1" i="0" u="none" noProof="0" dirty="0">
                <a:solidFill>
                  <a:srgbClr val="0F172A"/>
                </a:solidFill>
                <a:latin typeface="DM Sans SemiBold"/>
              </a:rPr>
              <a:t>Descalces en Cómputo de Horas:</a:t>
            </a:r>
            <a:r>
              <a:rPr lang="es-CL" sz="1200" b="1" i="0" u="none" noProof="0" dirty="0">
                <a:solidFill>
                  <a:srgbClr val="334155"/>
                </a:solidFill>
                <a:latin typeface="DM Sans"/>
              </a:rPr>
              <a:t> </a:t>
            </a:r>
            <a:r>
              <a:rPr lang="es-CL" sz="1090" b="0" i="0" u="none" noProof="0" dirty="0">
                <a:solidFill>
                  <a:srgbClr val="334155"/>
                </a:solidFill>
                <a:latin typeface="DM Sans"/>
              </a:rPr>
              <a:t>Frecuentes errores de cálculo en horas acumuladas y extravío de documentación de respaldo de las prácticas.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390739"/>
            <a:ext cx="4800600" cy="39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s-CL" sz="1200" b="1" i="0" u="none" noProof="0" dirty="0">
                <a:solidFill>
                  <a:srgbClr val="0F172A"/>
                </a:solidFill>
                <a:latin typeface="DM Sans SemiBold"/>
              </a:rPr>
              <a:t>Falta de Trazabilidad e Inmutabilidad:</a:t>
            </a:r>
            <a:r>
              <a:rPr lang="es-CL" sz="1200" b="1" i="0" u="none" noProof="0" dirty="0">
                <a:solidFill>
                  <a:srgbClr val="334155"/>
                </a:solidFill>
                <a:latin typeface="DM Sans"/>
              </a:rPr>
              <a:t> </a:t>
            </a:r>
            <a:r>
              <a:rPr lang="es-CL" sz="1090" b="0" i="0" u="none" noProof="0" dirty="0">
                <a:solidFill>
                  <a:srgbClr val="334155"/>
                </a:solidFill>
                <a:latin typeface="DM Sans"/>
              </a:rPr>
              <a:t>Inexistencia de validación en tiempo real y riesgo latente de alteración de registros ya revisados y aprobados.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932953"/>
            <a:ext cx="4800600" cy="400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s-CL" sz="1200" b="1" i="0" u="none" noProof="0" dirty="0">
                <a:solidFill>
                  <a:srgbClr val="0F172A"/>
                </a:solidFill>
                <a:latin typeface="DM Sans SemiBold"/>
              </a:rPr>
              <a:t>Sobrecarga del Supervisor:</a:t>
            </a:r>
            <a:r>
              <a:rPr lang="es-CL" sz="1200" b="1" i="0" u="none" noProof="0" dirty="0">
                <a:solidFill>
                  <a:srgbClr val="334155"/>
                </a:solidFill>
                <a:latin typeface="DM Sans"/>
              </a:rPr>
              <a:t> </a:t>
            </a:r>
            <a:r>
              <a:rPr lang="es-CL" sz="1090" b="0" i="0" u="none" noProof="0" dirty="0">
                <a:solidFill>
                  <a:srgbClr val="334155"/>
                </a:solidFill>
                <a:latin typeface="DM Sans"/>
              </a:rPr>
              <a:t>Dificultad para retroalimentar oportunamente y consolidar reportes de avance de los estudiantes.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7475" y="1750665"/>
            <a:ext cx="419100" cy="4191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000875" y="1817340"/>
            <a:ext cx="22002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i="0" u="none" noProof="0" dirty="0">
                <a:solidFill>
                  <a:srgbClr val="0F172A"/>
                </a:solidFill>
                <a:latin typeface="Poppins"/>
              </a:rPr>
              <a:t>Propuesta de Solución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6075" y="2322165"/>
            <a:ext cx="4800600" cy="400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s-CL" sz="1200" b="1" i="0" u="none" noProof="0" dirty="0">
                <a:solidFill>
                  <a:srgbClr val="0F172A"/>
                </a:solidFill>
                <a:latin typeface="DM Sans SemiBold"/>
              </a:rPr>
              <a:t>Plataforma Web Desacoplada:</a:t>
            </a:r>
            <a:r>
              <a:rPr lang="es-CL" sz="1200" b="1" i="0" u="none" noProof="0" dirty="0">
                <a:solidFill>
                  <a:srgbClr val="334155"/>
                </a:solidFill>
                <a:latin typeface="DM Sans"/>
              </a:rPr>
              <a:t> </a:t>
            </a:r>
            <a:r>
              <a:rPr lang="es-CL" sz="1087" b="0" i="0" u="none" noProof="0" dirty="0" err="1">
                <a:solidFill>
                  <a:srgbClr val="334155"/>
                </a:solidFill>
                <a:latin typeface="DM Sans"/>
              </a:rPr>
              <a:t>PrácticaHUB</a:t>
            </a:r>
            <a:r>
              <a:rPr lang="es-CL" sz="1087" b="0" i="0" u="none" noProof="0" dirty="0">
                <a:solidFill>
                  <a:srgbClr val="334155"/>
                </a:solidFill>
                <a:latin typeface="DM Sans"/>
              </a:rPr>
              <a:t> digitaliza y centraliza el ciclo completo de vida del registro de prácticas en una SPA moderna.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6075" y="2836812"/>
            <a:ext cx="4800600" cy="400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s-CL" sz="1200" b="1" i="0" u="none" noProof="0" dirty="0">
                <a:solidFill>
                  <a:srgbClr val="0F172A"/>
                </a:solidFill>
                <a:latin typeface="DM Sans SemiBold"/>
              </a:rPr>
              <a:t>Vinculación Rápida por Código:</a:t>
            </a:r>
            <a:r>
              <a:rPr lang="es-CL" sz="1200" b="1" i="0" u="none" noProof="0" dirty="0">
                <a:solidFill>
                  <a:srgbClr val="334155"/>
                </a:solidFill>
                <a:latin typeface="DM Sans"/>
              </a:rPr>
              <a:t> </a:t>
            </a:r>
            <a:r>
              <a:rPr lang="es-CL" sz="1087" b="0" i="0" u="none" noProof="0" dirty="0">
                <a:solidFill>
                  <a:srgbClr val="334155"/>
                </a:solidFill>
                <a:latin typeface="DM Sans"/>
              </a:rPr>
              <a:t>Asociación automática entre estudiante y docente guía mediante un código alfanumérico único.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6075" y="3351460"/>
            <a:ext cx="4800600" cy="400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s-CL" sz="1200" b="1" i="0" u="none" noProof="0" dirty="0">
                <a:solidFill>
                  <a:srgbClr val="0F172A"/>
                </a:solidFill>
                <a:latin typeface="DM Sans SemiBold"/>
              </a:rPr>
              <a:t>Bitácora Digital con Reglas de Negocio:</a:t>
            </a:r>
            <a:r>
              <a:rPr lang="es-CL" sz="1200" b="1" i="0" u="none" noProof="0" dirty="0">
                <a:solidFill>
                  <a:srgbClr val="334155"/>
                </a:solidFill>
                <a:latin typeface="DM Sans"/>
              </a:rPr>
              <a:t> </a:t>
            </a:r>
            <a:r>
              <a:rPr lang="es-CL" sz="1087" b="0" i="0" u="none" noProof="0" dirty="0">
                <a:solidFill>
                  <a:srgbClr val="334155"/>
                </a:solidFill>
                <a:latin typeface="DM Sans"/>
              </a:rPr>
              <a:t>Registro diario con cómputo automático de horas y carga de evidencias en servidor local.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6075" y="3866108"/>
            <a:ext cx="4800600" cy="6040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s-CL" sz="1200" b="1" i="0" u="none" noProof="0" dirty="0">
                <a:solidFill>
                  <a:srgbClr val="0F172A"/>
                </a:solidFill>
                <a:latin typeface="DM Sans SemiBold"/>
              </a:rPr>
              <a:t>Auditoría e Inmutabilidad:</a:t>
            </a:r>
            <a:r>
              <a:rPr lang="es-CL" sz="1200" b="1" i="0" u="none" noProof="0" dirty="0">
                <a:solidFill>
                  <a:srgbClr val="334155"/>
                </a:solidFill>
                <a:latin typeface="DM Sans"/>
              </a:rPr>
              <a:t> </a:t>
            </a:r>
            <a:r>
              <a:rPr lang="es-CL" sz="1087" b="0" i="0" u="none" noProof="0" dirty="0">
                <a:solidFill>
                  <a:srgbClr val="334155"/>
                </a:solidFill>
                <a:latin typeface="DM Sans"/>
              </a:rPr>
              <a:t>Panel interactivo de revisión docente con bloqueo definitivo de actividades aprobadas y exportación de reportes PDF.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1864965"/>
            <a:ext cx="190500" cy="1905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95325" y="2322165"/>
            <a:ext cx="1428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s-CL" sz="1087" b="1" i="0" u="none" noProof="0" dirty="0">
                <a:solidFill>
                  <a:srgbClr val="D97706"/>
                </a:solidFill>
                <a:latin typeface="DM San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325" y="2899022"/>
            <a:ext cx="1428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s-CL" sz="1087" b="1" i="0" u="none" noProof="0" dirty="0">
                <a:solidFill>
                  <a:srgbClr val="D97706"/>
                </a:solidFill>
                <a:latin typeface="DM Sans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361738"/>
            <a:ext cx="1428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s-CL" sz="1087" b="1" i="0" u="none" noProof="0" dirty="0">
                <a:solidFill>
                  <a:srgbClr val="D97706"/>
                </a:solidFill>
                <a:latin typeface="DM Sans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325" y="3932953"/>
            <a:ext cx="1428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s-CL" sz="1087" b="1" i="0" u="none" noProof="0" dirty="0">
                <a:solidFill>
                  <a:srgbClr val="D97706"/>
                </a:solidFill>
                <a:latin typeface="DM Sans"/>
              </a:rPr>
              <a:t>→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05587" y="1864965"/>
            <a:ext cx="142875" cy="1905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467475" y="2322165"/>
            <a:ext cx="1428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s-CL" sz="1087" b="1" i="0" u="none" noProof="0" dirty="0">
                <a:solidFill>
                  <a:srgbClr val="D97706"/>
                </a:solidFill>
                <a:latin typeface="DM Sans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7475" y="2836812"/>
            <a:ext cx="1428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s-CL" sz="1087" b="1" i="0" u="none" noProof="0" dirty="0">
                <a:solidFill>
                  <a:srgbClr val="D97706"/>
                </a:solidFill>
                <a:latin typeface="DM Sans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7475" y="3351460"/>
            <a:ext cx="1428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s-CL" sz="1087" b="1" i="0" u="none" noProof="0" dirty="0">
                <a:solidFill>
                  <a:srgbClr val="D97706"/>
                </a:solidFill>
                <a:latin typeface="DM Sans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7475" y="3866108"/>
            <a:ext cx="1428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s-CL" sz="1087" b="1" i="0" u="none" noProof="0" dirty="0">
                <a:solidFill>
                  <a:srgbClr val="D97706"/>
                </a:solidFill>
                <a:latin typeface="DM Sans"/>
              </a:rPr>
              <a:t>→</a:t>
            </a:r>
          </a:p>
        </p:txBody>
      </p:sp>
      <p:pic>
        <p:nvPicPr>
          <p:cNvPr id="31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09E3974B-F2F8-4C2D-3C57-6B38CDFC65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74600"/>
            <a:ext cx="1841785" cy="460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8375" y="385762"/>
            <a:ext cx="1876425" cy="238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483965"/>
            <a:ext cx="5505450" cy="506923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350" y="1483965"/>
            <a:ext cx="5505450" cy="50692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981075"/>
            <a:ext cx="11734800" cy="3504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760"/>
              </a:lnSpc>
            </a:pPr>
            <a:r>
              <a:rPr lang="es-CL" sz="2400" b="1" i="0" u="none" noProof="0" dirty="0">
                <a:solidFill>
                  <a:srgbClr val="0F172A"/>
                </a:solidFill>
                <a:latin typeface="Poppins"/>
              </a:rPr>
              <a:t>Objetivos del Proyecto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550" y="3199507"/>
            <a:ext cx="5000625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CL" sz="1500" b="1" i="0" u="none" noProof="0" dirty="0">
                <a:solidFill>
                  <a:srgbClr val="FBBF24"/>
                </a:solidFill>
                <a:latin typeface="Poppins"/>
              </a:rPr>
              <a:t>Objetivo General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18607"/>
            <a:ext cx="5048250" cy="12189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s-CL" sz="1200" b="0" i="0" u="none" noProof="0" dirty="0">
                <a:solidFill>
                  <a:srgbClr val="E2E8F0"/>
                </a:solidFill>
                <a:latin typeface="DM Sans"/>
              </a:rPr>
              <a:t>Diseñar y desarrollar una plataforma web desacoplada compuesta por una </a:t>
            </a:r>
            <a:r>
              <a:rPr lang="es-CL" sz="1200" b="1" i="0" u="none" noProof="0" dirty="0">
                <a:solidFill>
                  <a:srgbClr val="E2E8F0"/>
                </a:solidFill>
                <a:latin typeface="DM Sans"/>
              </a:rPr>
              <a:t>API REST en Java (Spring Boot)</a:t>
            </a:r>
            <a:r>
              <a:rPr lang="es-CL" sz="1200" b="0" i="0" u="none" noProof="0" dirty="0">
                <a:solidFill>
                  <a:srgbClr val="E2E8F0"/>
                </a:solidFill>
                <a:latin typeface="DM Sans"/>
              </a:rPr>
              <a:t> y un </a:t>
            </a:r>
            <a:r>
              <a:rPr lang="es-CL" sz="1200" b="1" i="0" u="none" noProof="0" dirty="0">
                <a:solidFill>
                  <a:srgbClr val="E2E8F0"/>
                </a:solidFill>
                <a:latin typeface="DM Sans"/>
              </a:rPr>
              <a:t>cliente SPA en </a:t>
            </a:r>
            <a:r>
              <a:rPr lang="es-CL" sz="1200" b="1" i="0" u="none" noProof="0" dirty="0" err="1">
                <a:solidFill>
                  <a:srgbClr val="E2E8F0"/>
                </a:solidFill>
                <a:latin typeface="DM Sans"/>
              </a:rPr>
              <a:t>React</a:t>
            </a:r>
            <a:r>
              <a:rPr lang="es-CL" sz="1200" b="0" i="0" u="none" noProof="0" dirty="0">
                <a:solidFill>
                  <a:srgbClr val="E2E8F0"/>
                </a:solidFill>
                <a:latin typeface="DM Sans"/>
              </a:rPr>
              <a:t> para centralizar, validar y auditar el registro, revisión y seguimiento de las actividades de práctica profesional de estudiantes de educación superior, operando en un </a:t>
            </a:r>
            <a:r>
              <a:rPr lang="es-CL" sz="1200" b="1" i="0" u="none" noProof="0" dirty="0">
                <a:solidFill>
                  <a:srgbClr val="E2E8F0"/>
                </a:solidFill>
                <a:latin typeface="DM Sans"/>
              </a:rPr>
              <a:t>entorno local seguro</a:t>
            </a:r>
            <a:r>
              <a:rPr lang="es-CL" sz="1200" b="0" i="0" u="none" noProof="0" dirty="0">
                <a:solidFill>
                  <a:srgbClr val="E2E8F0"/>
                </a:solidFill>
                <a:latin typeface="DM Sans"/>
              </a:rPr>
              <a:t>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247132"/>
            <a:ext cx="19050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7475" y="1750665"/>
            <a:ext cx="419100" cy="4191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00875" y="1817340"/>
            <a:ext cx="21145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i="0" u="none" noProof="0" dirty="0">
                <a:solidFill>
                  <a:srgbClr val="0F172A"/>
                </a:solidFill>
                <a:latin typeface="Poppins"/>
              </a:rPr>
              <a:t>Objetivos Específicos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6075" y="2322165"/>
            <a:ext cx="4800600" cy="400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s-CL" sz="1200" b="1" i="0" u="none" noProof="0" dirty="0">
                <a:solidFill>
                  <a:srgbClr val="0F172A"/>
                </a:solidFill>
                <a:latin typeface="DM Sans SemiBold"/>
              </a:rPr>
              <a:t>1. Requerimientos:</a:t>
            </a:r>
            <a:r>
              <a:rPr lang="es-CL" sz="1200" b="1" i="0" u="none" noProof="0" dirty="0">
                <a:solidFill>
                  <a:srgbClr val="334155"/>
                </a:solidFill>
                <a:latin typeface="DM Sans"/>
              </a:rPr>
              <a:t> </a:t>
            </a:r>
            <a:r>
              <a:rPr lang="es-CL" sz="1087" b="0" i="0" u="none" noProof="0" dirty="0">
                <a:solidFill>
                  <a:srgbClr val="334155"/>
                </a:solidFill>
                <a:latin typeface="DM Sans"/>
              </a:rPr>
              <a:t>Especificar requisitos funcionales, no funcionales y reglas de negocio para estudiantes y supervisores.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6075" y="2798712"/>
            <a:ext cx="4800600" cy="400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s-CL" sz="1200" b="1" i="0" u="none" noProof="0" dirty="0">
                <a:solidFill>
                  <a:srgbClr val="0F172A"/>
                </a:solidFill>
                <a:latin typeface="DM Sans SemiBold"/>
              </a:rPr>
              <a:t>2. Arquitectura y BD:</a:t>
            </a:r>
            <a:r>
              <a:rPr lang="es-CL" sz="1200" b="1" i="0" u="none" noProof="0" dirty="0">
                <a:solidFill>
                  <a:srgbClr val="334155"/>
                </a:solidFill>
                <a:latin typeface="DM Sans"/>
              </a:rPr>
              <a:t> </a:t>
            </a:r>
            <a:r>
              <a:rPr lang="es-CL" sz="1087" b="0" i="0" u="none" noProof="0" dirty="0">
                <a:solidFill>
                  <a:srgbClr val="334155"/>
                </a:solidFill>
                <a:latin typeface="DM Sans"/>
              </a:rPr>
              <a:t>Diseñar el modelo relacional en PostgreSQL y la arquitectura desacoplada </a:t>
            </a:r>
            <a:r>
              <a:rPr lang="es-CL" sz="1087" b="0" i="0" u="none" noProof="0" dirty="0" err="1">
                <a:solidFill>
                  <a:srgbClr val="334155"/>
                </a:solidFill>
                <a:latin typeface="DM Sans"/>
              </a:rPr>
              <a:t>React</a:t>
            </a:r>
            <a:r>
              <a:rPr lang="es-CL" sz="1087" b="0" i="0" u="none" noProof="0" dirty="0">
                <a:solidFill>
                  <a:srgbClr val="334155"/>
                </a:solidFill>
                <a:latin typeface="DM Sans"/>
              </a:rPr>
              <a:t> - Spring Boot.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6075" y="3275260"/>
            <a:ext cx="4800600" cy="400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s-CL" sz="1200" b="1" i="0" u="none" noProof="0" dirty="0">
                <a:solidFill>
                  <a:srgbClr val="0F172A"/>
                </a:solidFill>
                <a:latin typeface="DM Sans SemiBold"/>
              </a:rPr>
              <a:t>3. Seguridad Robusta:</a:t>
            </a:r>
            <a:r>
              <a:rPr lang="es-CL" sz="1200" b="1" i="0" u="none" noProof="0" dirty="0">
                <a:solidFill>
                  <a:srgbClr val="334155"/>
                </a:solidFill>
                <a:latin typeface="DM Sans"/>
              </a:rPr>
              <a:t> </a:t>
            </a:r>
            <a:r>
              <a:rPr lang="es-CL" sz="1087" b="0" i="0" u="none" noProof="0" dirty="0">
                <a:solidFill>
                  <a:srgbClr val="334155"/>
                </a:solidFill>
                <a:latin typeface="DM Sans"/>
              </a:rPr>
              <a:t>Implementar autenticación/autorización con tokens JWT, Spring Security y cifrado </a:t>
            </a:r>
            <a:r>
              <a:rPr lang="es-CL" sz="1087" b="0" i="0" u="none" noProof="0" dirty="0" err="1">
                <a:solidFill>
                  <a:srgbClr val="334155"/>
                </a:solidFill>
                <a:latin typeface="DM Sans"/>
              </a:rPr>
              <a:t>BCrypt</a:t>
            </a:r>
            <a:r>
              <a:rPr lang="es-CL" sz="1087" b="0" i="0" u="none" noProof="0" dirty="0">
                <a:solidFill>
                  <a:srgbClr val="334155"/>
                </a:solidFill>
                <a:latin typeface="DM Sans"/>
              </a:rPr>
              <a:t> por roles.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6075" y="3751808"/>
            <a:ext cx="4800600" cy="400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s-CL" sz="1200" b="1" i="0" u="none" noProof="0" dirty="0">
                <a:solidFill>
                  <a:srgbClr val="0F172A"/>
                </a:solidFill>
                <a:latin typeface="DM Sans SemiBold"/>
              </a:rPr>
              <a:t>4. Módulo de Vinculación:</a:t>
            </a:r>
            <a:r>
              <a:rPr lang="es-CL" sz="1200" b="1" i="0" u="none" noProof="0" dirty="0">
                <a:solidFill>
                  <a:srgbClr val="334155"/>
                </a:solidFill>
                <a:latin typeface="DM Sans"/>
              </a:rPr>
              <a:t> </a:t>
            </a:r>
            <a:r>
              <a:rPr lang="es-CL" sz="1087" b="0" i="0" u="none" noProof="0" dirty="0">
                <a:solidFill>
                  <a:srgbClr val="334155"/>
                </a:solidFill>
                <a:latin typeface="DM Sans"/>
              </a:rPr>
              <a:t>Desarrollar la asociación docente-alumno mediante generación e ingreso de códigos únicos.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6075" y="4228355"/>
            <a:ext cx="4800600" cy="400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s-CL" sz="1200" b="1" i="0" u="none" noProof="0" dirty="0">
                <a:solidFill>
                  <a:srgbClr val="0F172A"/>
                </a:solidFill>
                <a:latin typeface="DM Sans SemiBold"/>
              </a:rPr>
              <a:t>5. Revisión e Inmutabilidad:</a:t>
            </a:r>
            <a:r>
              <a:rPr lang="es-CL" sz="1200" b="1" i="0" u="none" noProof="0" dirty="0">
                <a:solidFill>
                  <a:srgbClr val="334155"/>
                </a:solidFill>
                <a:latin typeface="DM Sans"/>
              </a:rPr>
              <a:t> </a:t>
            </a:r>
            <a:r>
              <a:rPr lang="es-CL" sz="1087" b="0" i="0" u="none" noProof="0" dirty="0">
                <a:solidFill>
                  <a:srgbClr val="334155"/>
                </a:solidFill>
                <a:latin typeface="DM Sans"/>
              </a:rPr>
              <a:t>Construir el panel supervisor con estados de visado, </a:t>
            </a:r>
            <a:r>
              <a:rPr lang="es-CL" sz="1087" b="0" i="0" u="none" noProof="0" dirty="0" err="1">
                <a:solidFill>
                  <a:srgbClr val="334155"/>
                </a:solidFill>
                <a:latin typeface="DM Sans"/>
              </a:rPr>
              <a:t>feedback</a:t>
            </a:r>
            <a:r>
              <a:rPr lang="es-CL" sz="1087" b="0" i="0" u="none" noProof="0" dirty="0">
                <a:solidFill>
                  <a:srgbClr val="334155"/>
                </a:solidFill>
                <a:latin typeface="DM Sans"/>
              </a:rPr>
              <a:t> y regla de bloqueo definitivo.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1775" y="1864965"/>
            <a:ext cx="190500" cy="1905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67475" y="2322165"/>
            <a:ext cx="1428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s-CL" sz="1087" b="1" i="0" u="none" noProof="0" dirty="0">
                <a:solidFill>
                  <a:srgbClr val="D97706"/>
                </a:solidFill>
                <a:latin typeface="DM San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7475" y="2798712"/>
            <a:ext cx="1428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s-CL" sz="1087" b="1" i="0" u="none" noProof="0" dirty="0">
                <a:solidFill>
                  <a:srgbClr val="D97706"/>
                </a:solidFill>
                <a:latin typeface="DM San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7475" y="3275260"/>
            <a:ext cx="1428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s-CL" sz="1087" b="1" i="0" u="none" noProof="0" dirty="0">
                <a:solidFill>
                  <a:srgbClr val="D97706"/>
                </a:solidFill>
                <a:latin typeface="DM San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7475" y="3751808"/>
            <a:ext cx="1428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s-CL" sz="1087" b="1" i="0" u="none" noProof="0" dirty="0">
                <a:solidFill>
                  <a:srgbClr val="D97706"/>
                </a:solidFill>
                <a:latin typeface="DM Sans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7475" y="4228355"/>
            <a:ext cx="1428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s-CL" sz="1087" b="1" i="0" u="none" noProof="0" dirty="0">
                <a:solidFill>
                  <a:srgbClr val="D97706"/>
                </a:solidFill>
                <a:latin typeface="DM Sans"/>
              </a:rPr>
              <a:t>→</a:t>
            </a:r>
          </a:p>
        </p:txBody>
      </p:sp>
      <p:pic>
        <p:nvPicPr>
          <p:cNvPr id="25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A93D9ED7-EB41-E4BB-B388-6A3CFBDFF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74600"/>
            <a:ext cx="1841785" cy="460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8375" y="385762"/>
            <a:ext cx="1876425" cy="238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483965"/>
            <a:ext cx="5505450" cy="506923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350" y="1483965"/>
            <a:ext cx="5505450" cy="50692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981075"/>
            <a:ext cx="11734800" cy="3504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760"/>
              </a:lnSpc>
            </a:pPr>
            <a:r>
              <a:rPr lang="es-CL" sz="2400" b="1" i="0" u="none" noProof="0" dirty="0">
                <a:solidFill>
                  <a:srgbClr val="0F172A"/>
                </a:solidFill>
                <a:latin typeface="Poppins"/>
              </a:rPr>
              <a:t>Alcances y Limitaciones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325" y="1750665"/>
            <a:ext cx="419100" cy="4191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28725" y="1817340"/>
            <a:ext cx="22002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i="0" u="none" noProof="0" dirty="0">
                <a:solidFill>
                  <a:srgbClr val="0F172A"/>
                </a:solidFill>
                <a:latin typeface="Poppins"/>
              </a:rPr>
              <a:t>Alcances del Proyecto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2322165"/>
            <a:ext cx="4800600" cy="400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s-CL" sz="1200" b="1" i="0" u="none" noProof="0" dirty="0">
                <a:solidFill>
                  <a:srgbClr val="0F172A"/>
                </a:solidFill>
                <a:latin typeface="DM Sans SemiBold"/>
              </a:rPr>
              <a:t>Producto Mínimo Viable (MVP):</a:t>
            </a:r>
            <a:r>
              <a:rPr lang="es-CL" sz="1200" b="1" i="0" u="none" noProof="0" dirty="0">
                <a:solidFill>
                  <a:srgbClr val="334155"/>
                </a:solidFill>
                <a:latin typeface="DM Sans"/>
              </a:rPr>
              <a:t> </a:t>
            </a:r>
            <a:r>
              <a:rPr lang="es-CL" sz="1087" b="0" i="0" u="none" noProof="0" dirty="0">
                <a:solidFill>
                  <a:srgbClr val="334155"/>
                </a:solidFill>
                <a:latin typeface="DM Sans"/>
              </a:rPr>
              <a:t>Sistema modular y funcional alcanzable dentro de las 18 semanas de la asignatura </a:t>
            </a:r>
            <a:r>
              <a:rPr lang="es-CL" sz="1087" b="0" i="0" u="none" noProof="0" dirty="0" err="1">
                <a:solidFill>
                  <a:srgbClr val="334155"/>
                </a:solidFill>
                <a:latin typeface="DM Sans"/>
              </a:rPr>
              <a:t>Capstone</a:t>
            </a:r>
            <a:r>
              <a:rPr lang="es-CL" sz="1087" b="0" i="0" u="none" noProof="0" dirty="0">
                <a:solidFill>
                  <a:srgbClr val="334155"/>
                </a:solidFill>
                <a:latin typeface="DM Sans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2836812"/>
            <a:ext cx="4800600" cy="400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s-CL" sz="1200" b="1" i="0" u="none" noProof="0" dirty="0">
                <a:solidFill>
                  <a:srgbClr val="0F172A"/>
                </a:solidFill>
                <a:latin typeface="DM Sans SemiBold"/>
              </a:rPr>
              <a:t>Perfiles y Roles Diferenciados:</a:t>
            </a:r>
            <a:r>
              <a:rPr lang="es-CL" sz="1200" b="1" i="0" u="none" noProof="0" dirty="0">
                <a:solidFill>
                  <a:srgbClr val="334155"/>
                </a:solidFill>
                <a:latin typeface="DM Sans"/>
              </a:rPr>
              <a:t> </a:t>
            </a:r>
            <a:r>
              <a:rPr lang="es-CL" sz="1087" b="0" i="0" u="none" noProof="0" dirty="0">
                <a:solidFill>
                  <a:srgbClr val="334155"/>
                </a:solidFill>
                <a:latin typeface="DM Sans"/>
              </a:rPr>
              <a:t>Módulos de gestión especializados para </a:t>
            </a:r>
            <a:r>
              <a:rPr lang="es-CL" sz="1087" b="0" i="1" u="none" noProof="0" dirty="0">
                <a:solidFill>
                  <a:srgbClr val="334155"/>
                </a:solidFill>
                <a:latin typeface="DM Sans"/>
              </a:rPr>
              <a:t>Estudiante</a:t>
            </a:r>
            <a:r>
              <a:rPr lang="es-CL" sz="1087" b="0" i="0" u="none" noProof="0" dirty="0">
                <a:solidFill>
                  <a:srgbClr val="334155"/>
                </a:solidFill>
                <a:latin typeface="DM Sans"/>
              </a:rPr>
              <a:t> y </a:t>
            </a:r>
            <a:r>
              <a:rPr lang="es-CL" sz="1087" b="0" i="1" u="none" noProof="0" dirty="0">
                <a:solidFill>
                  <a:srgbClr val="334155"/>
                </a:solidFill>
                <a:latin typeface="DM Sans"/>
              </a:rPr>
              <a:t>Profesor Guía / Supervisor</a:t>
            </a:r>
            <a:r>
              <a:rPr lang="es-CL" sz="1087" b="0" i="0" u="none" noProof="0" dirty="0">
                <a:solidFill>
                  <a:srgbClr val="334155"/>
                </a:solidFill>
                <a:latin typeface="DM Sans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351460"/>
            <a:ext cx="4800600" cy="400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s-CL" sz="1200" b="1" i="0" u="none" noProof="0" dirty="0">
                <a:solidFill>
                  <a:srgbClr val="0F172A"/>
                </a:solidFill>
                <a:latin typeface="DM Sans SemiBold"/>
              </a:rPr>
              <a:t>Cálculo Dinámico y Validación:</a:t>
            </a:r>
            <a:r>
              <a:rPr lang="es-CL" sz="1200" b="1" i="0" u="none" noProof="0" dirty="0">
                <a:solidFill>
                  <a:srgbClr val="334155"/>
                </a:solidFill>
                <a:latin typeface="DM Sans"/>
              </a:rPr>
              <a:t> </a:t>
            </a:r>
            <a:r>
              <a:rPr lang="es-CL" sz="1087" b="0" i="0" u="none" noProof="0" dirty="0">
                <a:solidFill>
                  <a:srgbClr val="334155"/>
                </a:solidFill>
                <a:latin typeface="DM Sans"/>
              </a:rPr>
              <a:t>Control estricto de topes horarios y bloqueo inmutable </a:t>
            </a:r>
            <a:r>
              <a:rPr lang="es-CL" sz="1087" b="0" i="0" u="none" noProof="0" dirty="0" err="1">
                <a:solidFill>
                  <a:srgbClr val="334155"/>
                </a:solidFill>
                <a:latin typeface="DM Sans"/>
              </a:rPr>
              <a:t>backend</a:t>
            </a:r>
            <a:r>
              <a:rPr lang="es-CL" sz="1087" b="0" i="0" u="none" noProof="0" dirty="0">
                <a:solidFill>
                  <a:srgbClr val="334155"/>
                </a:solidFill>
                <a:latin typeface="DM Sans"/>
              </a:rPr>
              <a:t> sobre bitácoras aprobadas.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866108"/>
            <a:ext cx="4800600" cy="400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s-CL" sz="1200" b="1" i="0" u="none" noProof="0" dirty="0">
                <a:solidFill>
                  <a:srgbClr val="0F172A"/>
                </a:solidFill>
                <a:latin typeface="DM Sans SemiBold"/>
              </a:rPr>
              <a:t>Métricas y Exportación PDF:</a:t>
            </a:r>
            <a:r>
              <a:rPr lang="es-CL" sz="1200" b="1" i="0" u="none" noProof="0" dirty="0">
                <a:solidFill>
                  <a:srgbClr val="334155"/>
                </a:solidFill>
                <a:latin typeface="DM Sans"/>
              </a:rPr>
              <a:t> </a:t>
            </a:r>
            <a:r>
              <a:rPr lang="es-CL" sz="1087" b="0" i="0" u="none" noProof="0" dirty="0" err="1">
                <a:solidFill>
                  <a:srgbClr val="334155"/>
                </a:solidFill>
                <a:latin typeface="DM Sans"/>
              </a:rPr>
              <a:t>Dashboard</a:t>
            </a:r>
            <a:r>
              <a:rPr lang="es-CL" sz="1087" b="0" i="0" u="none" noProof="0" dirty="0">
                <a:solidFill>
                  <a:srgbClr val="334155"/>
                </a:solidFill>
                <a:latin typeface="DM Sans"/>
              </a:rPr>
              <a:t> con gráficos de avance de horas acumuladas y descarga de expediente oficial en PDF.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4380755"/>
            <a:ext cx="4800600" cy="400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s-CL" sz="1200" b="1" i="0" u="none" noProof="0" dirty="0">
                <a:solidFill>
                  <a:srgbClr val="0F172A"/>
                </a:solidFill>
                <a:latin typeface="DM Sans SemiBold"/>
              </a:rPr>
              <a:t>Homogeneidad con Docker:</a:t>
            </a:r>
            <a:r>
              <a:rPr lang="es-CL" sz="1200" b="1" i="0" u="none" noProof="0" dirty="0">
                <a:solidFill>
                  <a:srgbClr val="334155"/>
                </a:solidFill>
                <a:latin typeface="DM Sans"/>
              </a:rPr>
              <a:t> </a:t>
            </a:r>
            <a:r>
              <a:rPr lang="es-CL" sz="1087" b="0" i="0" u="none" noProof="0" dirty="0">
                <a:solidFill>
                  <a:srgbClr val="334155"/>
                </a:solidFill>
                <a:latin typeface="DM Sans"/>
              </a:rPr>
              <a:t>Orquestación </a:t>
            </a:r>
            <a:r>
              <a:rPr lang="es-CL" sz="1087" b="0" i="0" u="none" noProof="0" dirty="0" err="1">
                <a:solidFill>
                  <a:srgbClr val="334155"/>
                </a:solidFill>
                <a:latin typeface="DM Sans"/>
              </a:rPr>
              <a:t>multicontenedor</a:t>
            </a:r>
            <a:r>
              <a:rPr lang="es-CL" sz="1087" b="0" i="0" u="none" noProof="0" dirty="0">
                <a:solidFill>
                  <a:srgbClr val="334155"/>
                </a:solidFill>
                <a:latin typeface="DM Sans"/>
              </a:rPr>
              <a:t> local (App + BD) con Docker </a:t>
            </a:r>
            <a:r>
              <a:rPr lang="es-CL" sz="1087" b="0" i="0" u="none" noProof="0" dirty="0" err="1">
                <a:solidFill>
                  <a:srgbClr val="334155"/>
                </a:solidFill>
                <a:latin typeface="DM Sans"/>
              </a:rPr>
              <a:t>Compose</a:t>
            </a:r>
            <a:r>
              <a:rPr lang="es-CL" sz="1087" b="0" i="0" u="none" noProof="0" dirty="0">
                <a:solidFill>
                  <a:srgbClr val="334155"/>
                </a:solidFill>
                <a:latin typeface="DM Sans"/>
              </a:rPr>
              <a:t>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7475" y="1750665"/>
            <a:ext cx="419100" cy="4191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000875" y="1817340"/>
            <a:ext cx="25527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i="0" u="none" noProof="0" dirty="0">
                <a:solidFill>
                  <a:srgbClr val="0F172A"/>
                </a:solidFill>
                <a:latin typeface="Poppins"/>
              </a:rPr>
              <a:t>Limitaciones del Proyecto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6075" y="2322165"/>
            <a:ext cx="4800600" cy="400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s-CL" sz="1200" b="1" i="0" u="none" noProof="0" dirty="0">
                <a:solidFill>
                  <a:srgbClr val="0F172A"/>
                </a:solidFill>
                <a:latin typeface="DM Sans SemiBold"/>
              </a:rPr>
              <a:t>Entorno Local (Costo $0):</a:t>
            </a:r>
            <a:r>
              <a:rPr lang="es-CL" sz="1200" b="1" i="0" u="none" noProof="0" dirty="0">
                <a:solidFill>
                  <a:srgbClr val="334155"/>
                </a:solidFill>
                <a:latin typeface="DM Sans"/>
              </a:rPr>
              <a:t> </a:t>
            </a:r>
            <a:r>
              <a:rPr lang="es-CL" sz="1087" b="0" i="0" u="none" noProof="0" dirty="0">
                <a:solidFill>
                  <a:srgbClr val="334155"/>
                </a:solidFill>
                <a:latin typeface="DM Sans"/>
              </a:rPr>
              <a:t>La solución se concibe para operar en servidores/equipos locales sin costos de infraestructura Cloud de pago.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6075" y="2836812"/>
            <a:ext cx="4800600" cy="400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s-CL" sz="1200" b="1" i="0" u="none" noProof="0" dirty="0">
                <a:solidFill>
                  <a:srgbClr val="0F172A"/>
                </a:solidFill>
                <a:latin typeface="DM Sans SemiBold"/>
              </a:rPr>
              <a:t>Almacenamiento de Evidencias:</a:t>
            </a:r>
            <a:r>
              <a:rPr lang="es-CL" sz="1200" b="1" i="0" u="none" noProof="0" dirty="0">
                <a:solidFill>
                  <a:srgbClr val="334155"/>
                </a:solidFill>
                <a:latin typeface="DM Sans"/>
              </a:rPr>
              <a:t> </a:t>
            </a:r>
            <a:r>
              <a:rPr lang="es-CL" sz="1087" b="0" i="0" u="none" noProof="0" dirty="0">
                <a:solidFill>
                  <a:srgbClr val="334155"/>
                </a:solidFill>
                <a:latin typeface="DM Sans"/>
              </a:rPr>
              <a:t>Respaldo de archivos de evidencia directamente en el sistema de archivos local del </a:t>
            </a:r>
            <a:r>
              <a:rPr lang="es-CL" sz="1087" b="0" i="0" u="none" noProof="0" dirty="0" err="1">
                <a:solidFill>
                  <a:srgbClr val="334155"/>
                </a:solidFill>
                <a:latin typeface="DM Sans"/>
              </a:rPr>
              <a:t>backend</a:t>
            </a:r>
            <a:r>
              <a:rPr lang="es-CL" sz="1087" b="0" i="0" u="none" noProof="0" dirty="0">
                <a:solidFill>
                  <a:srgbClr val="334155"/>
                </a:solidFill>
                <a:latin typeface="DM Sans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6075" y="3351460"/>
            <a:ext cx="4800600" cy="400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s-CL" sz="1200" b="1" i="0" u="none" noProof="0" dirty="0">
                <a:solidFill>
                  <a:srgbClr val="0F172A"/>
                </a:solidFill>
                <a:latin typeface="DM Sans SemiBold"/>
              </a:rPr>
              <a:t>Sin Integración Externa:</a:t>
            </a:r>
            <a:r>
              <a:rPr lang="es-CL" sz="1200" b="1" i="0" u="none" noProof="0" dirty="0">
                <a:solidFill>
                  <a:srgbClr val="334155"/>
                </a:solidFill>
                <a:latin typeface="DM Sans"/>
              </a:rPr>
              <a:t> </a:t>
            </a:r>
            <a:r>
              <a:rPr lang="es-CL" sz="1087" b="0" i="0" u="none" noProof="0" dirty="0">
                <a:solidFill>
                  <a:srgbClr val="334155"/>
                </a:solidFill>
                <a:latin typeface="DM Sans"/>
              </a:rPr>
              <a:t>En esta fase no contempla conexión directa a sistemas legados ni ERPs institucionales Duoc UC.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6075" y="3866108"/>
            <a:ext cx="4800600" cy="400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s-CL" sz="1200" b="1" i="0" u="none" noProof="0" dirty="0">
                <a:solidFill>
                  <a:srgbClr val="0F172A"/>
                </a:solidFill>
                <a:latin typeface="DM Sans SemiBold"/>
              </a:rPr>
              <a:t>Plazo Académico Acotado:</a:t>
            </a:r>
            <a:r>
              <a:rPr lang="es-CL" sz="1200" b="1" i="0" u="none" noProof="0" dirty="0">
                <a:solidFill>
                  <a:srgbClr val="334155"/>
                </a:solidFill>
                <a:latin typeface="DM Sans"/>
              </a:rPr>
              <a:t> </a:t>
            </a:r>
            <a:r>
              <a:rPr lang="es-CL" sz="1087" b="0" i="0" u="none" noProof="0" dirty="0">
                <a:solidFill>
                  <a:srgbClr val="334155"/>
                </a:solidFill>
                <a:latin typeface="DM Sans"/>
              </a:rPr>
              <a:t>Ejecución sujeta estrictamente al calendario académico del semestre (Fases 1, 2 y 3).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1864965"/>
            <a:ext cx="190500" cy="1905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95325" y="2322165"/>
            <a:ext cx="1428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s-CL" sz="1087" b="1" i="0" u="none" noProof="0" dirty="0">
                <a:solidFill>
                  <a:srgbClr val="D97706"/>
                </a:solidFill>
                <a:latin typeface="DM Sans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325" y="2836812"/>
            <a:ext cx="1428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s-CL" sz="1087" b="1" i="0" u="none" noProof="0" dirty="0">
                <a:solidFill>
                  <a:srgbClr val="D97706"/>
                </a:solidFill>
                <a:latin typeface="DM Sans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325" y="3351460"/>
            <a:ext cx="1428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s-CL" sz="1087" b="1" i="0" u="none" noProof="0" dirty="0">
                <a:solidFill>
                  <a:srgbClr val="D97706"/>
                </a:solidFill>
                <a:latin typeface="DM Sans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5325" y="3866108"/>
            <a:ext cx="1428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s-CL" sz="1087" b="1" i="0" u="none" noProof="0" dirty="0">
                <a:solidFill>
                  <a:srgbClr val="D97706"/>
                </a:solidFill>
                <a:latin typeface="DM Sans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5325" y="4380755"/>
            <a:ext cx="1428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s-CL" sz="1087" b="1" i="0" u="none" noProof="0" dirty="0">
                <a:solidFill>
                  <a:srgbClr val="D97706"/>
                </a:solidFill>
                <a:latin typeface="DM Sans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7475" y="2322165"/>
            <a:ext cx="1428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s-CL" sz="1087" b="1" i="0" u="none" noProof="0" dirty="0">
                <a:solidFill>
                  <a:srgbClr val="D97706"/>
                </a:solidFill>
                <a:latin typeface="DM Sans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7475" y="2836812"/>
            <a:ext cx="1428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s-CL" sz="1087" b="1" i="0" u="none" noProof="0" dirty="0">
                <a:solidFill>
                  <a:srgbClr val="D97706"/>
                </a:solidFill>
                <a:latin typeface="DM Sans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7475" y="3351460"/>
            <a:ext cx="1428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s-CL" sz="1087" b="1" i="0" u="none" noProof="0" dirty="0">
                <a:solidFill>
                  <a:srgbClr val="D97706"/>
                </a:solidFill>
                <a:latin typeface="DM Sans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7475" y="3866108"/>
            <a:ext cx="1428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s-CL" sz="1087" b="1" i="0" u="none" noProof="0" dirty="0">
                <a:solidFill>
                  <a:srgbClr val="D97706"/>
                </a:solidFill>
                <a:latin typeface="DM Sans"/>
              </a:rPr>
              <a:t>→</a:t>
            </a:r>
          </a:p>
        </p:txBody>
      </p:sp>
      <p:pic>
        <p:nvPicPr>
          <p:cNvPr id="32" name="Gráfico 31" descr="Signo de exclamación con relleno sólido">
            <a:extLst>
              <a:ext uri="{FF2B5EF4-FFF2-40B4-BE49-F238E27FC236}">
                <a16:creationId xmlns:a16="http://schemas.microsoft.com/office/drawing/2014/main" id="{B9AA09B0-926C-A3D3-AE44-BE73241ADF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24625" y="1798290"/>
            <a:ext cx="304800" cy="304800"/>
          </a:xfrm>
          <a:prstGeom prst="rect">
            <a:avLst/>
          </a:prstGeom>
        </p:spPr>
      </p:pic>
      <p:pic>
        <p:nvPicPr>
          <p:cNvPr id="34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E32A969D-AC51-DB2F-7281-7AE2BFF93A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74600"/>
            <a:ext cx="1841785" cy="460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8375" y="385762"/>
            <a:ext cx="1876425" cy="2381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632" y="1604962"/>
            <a:ext cx="10460736" cy="38621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981075"/>
            <a:ext cx="11734800" cy="3504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760"/>
              </a:lnSpc>
            </a:pPr>
            <a:r>
              <a:rPr lang="es-CL" sz="2400" b="1" i="0" u="none" noProof="0" dirty="0">
                <a:solidFill>
                  <a:srgbClr val="0F172A"/>
                </a:solidFill>
                <a:latin typeface="Poppins"/>
              </a:rPr>
              <a:t>Metodología de Trabajo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3702" y="1822640"/>
            <a:ext cx="381112" cy="37349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99057" y="1900236"/>
            <a:ext cx="5381868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i="0" u="none" noProof="0" dirty="0">
                <a:solidFill>
                  <a:srgbClr val="0F172A"/>
                </a:solidFill>
                <a:latin typeface="Poppins"/>
              </a:rPr>
              <a:t>Marco de Trabajo: Scrum Adaptado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4258" y="2347912"/>
            <a:ext cx="9508448" cy="1971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s-CL" sz="1200" b="1" i="0" u="none" noProof="0" dirty="0" err="1">
                <a:solidFill>
                  <a:srgbClr val="0F172A"/>
                </a:solidFill>
                <a:latin typeface="DM Sans SemiBold"/>
              </a:rPr>
              <a:t>Sprints</a:t>
            </a:r>
            <a:r>
              <a:rPr lang="es-CL" sz="1200" b="1" i="0" u="none" noProof="0" dirty="0">
                <a:solidFill>
                  <a:srgbClr val="0F172A"/>
                </a:solidFill>
                <a:latin typeface="DM Sans SemiBold"/>
              </a:rPr>
              <a:t> Iterativos:</a:t>
            </a:r>
            <a:r>
              <a:rPr lang="es-CL" sz="1200" b="1" i="0" u="none" noProof="0" dirty="0">
                <a:solidFill>
                  <a:srgbClr val="334155"/>
                </a:solidFill>
                <a:latin typeface="DM Sans"/>
              </a:rPr>
              <a:t> </a:t>
            </a:r>
            <a:r>
              <a:rPr lang="es-CL" sz="1087" b="0" i="0" u="none" noProof="0" dirty="0">
                <a:solidFill>
                  <a:srgbClr val="334155"/>
                </a:solidFill>
                <a:latin typeface="DM Sans"/>
              </a:rPr>
              <a:t>Ciclos de trabajo de 2 semanas orientados a entregas funcionales e incrementales.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4258" y="2843510"/>
            <a:ext cx="9508448" cy="1971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s-CL" sz="1200" b="1" i="0" u="none" noProof="0" dirty="0">
                <a:solidFill>
                  <a:srgbClr val="0F172A"/>
                </a:solidFill>
                <a:latin typeface="DM Sans SemiBold"/>
              </a:rPr>
              <a:t>Tablero Kanban &amp; GitHub </a:t>
            </a:r>
            <a:r>
              <a:rPr lang="es-CL" sz="1200" b="1" i="0" u="none" noProof="0" dirty="0" err="1">
                <a:solidFill>
                  <a:srgbClr val="0F172A"/>
                </a:solidFill>
                <a:latin typeface="DM Sans SemiBold"/>
              </a:rPr>
              <a:t>Projects</a:t>
            </a:r>
            <a:r>
              <a:rPr lang="es-CL" sz="1200" b="1" i="0" u="none" noProof="0" dirty="0">
                <a:solidFill>
                  <a:srgbClr val="0F172A"/>
                </a:solidFill>
                <a:latin typeface="DM Sans SemiBold"/>
              </a:rPr>
              <a:t>:</a:t>
            </a:r>
            <a:r>
              <a:rPr lang="es-CL" sz="1200" b="1" i="0" u="none" noProof="0" dirty="0">
                <a:solidFill>
                  <a:srgbClr val="334155"/>
                </a:solidFill>
                <a:latin typeface="DM Sans"/>
              </a:rPr>
              <a:t> </a:t>
            </a:r>
            <a:r>
              <a:rPr lang="es-CL" sz="1087" b="0" i="0" u="none" noProof="0" dirty="0">
                <a:solidFill>
                  <a:srgbClr val="334155"/>
                </a:solidFill>
                <a:latin typeface="DM Sans"/>
              </a:rPr>
              <a:t>Visualización del flujo de trabajo, priorización del </a:t>
            </a:r>
            <a:r>
              <a:rPr lang="es-CL" sz="1087" b="0" i="0" u="none" noProof="0" dirty="0" err="1">
                <a:solidFill>
                  <a:srgbClr val="334155"/>
                </a:solidFill>
                <a:latin typeface="DM Sans"/>
              </a:rPr>
              <a:t>Product</a:t>
            </a:r>
            <a:r>
              <a:rPr lang="es-CL" sz="1087" b="0" i="0" u="none" noProof="0" dirty="0">
                <a:solidFill>
                  <a:srgbClr val="334155"/>
                </a:solidFill>
                <a:latin typeface="DM Sans"/>
              </a:rPr>
              <a:t> Backlog y control de WIP.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4258" y="3339107"/>
            <a:ext cx="9508448" cy="1971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s-CL" sz="1200" b="1" i="0" u="none" noProof="0" dirty="0">
                <a:solidFill>
                  <a:srgbClr val="0F172A"/>
                </a:solidFill>
                <a:latin typeface="DM Sans SemiBold"/>
              </a:rPr>
              <a:t>Control de Versiones Colaborativo:</a:t>
            </a:r>
            <a:r>
              <a:rPr lang="es-CL" sz="1200" b="1" i="0" u="none" noProof="0" dirty="0">
                <a:solidFill>
                  <a:srgbClr val="334155"/>
                </a:solidFill>
                <a:latin typeface="DM Sans"/>
              </a:rPr>
              <a:t> </a:t>
            </a:r>
            <a:r>
              <a:rPr lang="es-CL" sz="1087" b="0" i="0" u="none" noProof="0" dirty="0">
                <a:solidFill>
                  <a:srgbClr val="334155"/>
                </a:solidFill>
                <a:latin typeface="DM Sans"/>
              </a:rPr>
              <a:t>Gobernanza de ramas (</a:t>
            </a:r>
            <a:r>
              <a:rPr lang="es-CL" sz="1087" b="0" i="0" u="none" noProof="0" dirty="0" err="1">
                <a:solidFill>
                  <a:srgbClr val="334155"/>
                </a:solidFill>
                <a:latin typeface="DM Sans"/>
              </a:rPr>
              <a:t>Gitflow</a:t>
            </a:r>
            <a:r>
              <a:rPr lang="es-CL" sz="1087" b="0" i="0" u="none" noProof="0" dirty="0">
                <a:solidFill>
                  <a:srgbClr val="334155"/>
                </a:solidFill>
                <a:latin typeface="DM Sans"/>
              </a:rPr>
              <a:t>), </a:t>
            </a:r>
            <a:r>
              <a:rPr lang="es-CL" sz="1087" b="0" i="0" u="none" noProof="0" dirty="0" err="1">
                <a:solidFill>
                  <a:srgbClr val="334155"/>
                </a:solidFill>
                <a:latin typeface="DM Sans"/>
              </a:rPr>
              <a:t>pull</a:t>
            </a:r>
            <a:r>
              <a:rPr lang="es-CL" sz="1087" b="0" i="0" u="none" noProof="0" dirty="0">
                <a:solidFill>
                  <a:srgbClr val="334155"/>
                </a:solidFill>
                <a:latin typeface="DM Sans"/>
              </a:rPr>
              <a:t> </a:t>
            </a:r>
            <a:r>
              <a:rPr lang="es-CL" sz="1087" b="0" i="0" u="none" noProof="0" dirty="0" err="1">
                <a:solidFill>
                  <a:srgbClr val="334155"/>
                </a:solidFill>
                <a:latin typeface="DM Sans"/>
              </a:rPr>
              <a:t>requests</a:t>
            </a:r>
            <a:r>
              <a:rPr lang="es-CL" sz="1087" b="0" i="0" u="none" noProof="0" dirty="0">
                <a:solidFill>
                  <a:srgbClr val="334155"/>
                </a:solidFill>
                <a:latin typeface="DM Sans"/>
              </a:rPr>
              <a:t> y trazabilidad técnica en GitHub.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4258" y="3834705"/>
            <a:ext cx="9508448" cy="1971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s-CL" sz="1200" b="1" i="0" u="none" noProof="0" dirty="0">
                <a:solidFill>
                  <a:srgbClr val="0F172A"/>
                </a:solidFill>
                <a:latin typeface="DM Sans SemiBold"/>
              </a:rPr>
              <a:t>Ceremonias Ágiles:</a:t>
            </a:r>
            <a:r>
              <a:rPr lang="es-CL" sz="1200" b="1" i="0" u="none" noProof="0" dirty="0">
                <a:solidFill>
                  <a:srgbClr val="334155"/>
                </a:solidFill>
                <a:latin typeface="DM Sans"/>
              </a:rPr>
              <a:t> </a:t>
            </a:r>
            <a:r>
              <a:rPr lang="es-CL" sz="1087" b="0" i="0" u="none" noProof="0" dirty="0">
                <a:solidFill>
                  <a:srgbClr val="334155"/>
                </a:solidFill>
                <a:latin typeface="DM Sans"/>
              </a:rPr>
              <a:t>Daily Meetings para mitigación de bloqueos, Sprint </a:t>
            </a:r>
            <a:r>
              <a:rPr lang="es-CL" sz="1087" b="0" i="0" u="none" noProof="0" dirty="0" err="1">
                <a:solidFill>
                  <a:srgbClr val="334155"/>
                </a:solidFill>
                <a:latin typeface="DM Sans"/>
              </a:rPr>
              <a:t>Reviews</a:t>
            </a:r>
            <a:r>
              <a:rPr lang="es-CL" sz="1087" b="0" i="0" u="none" noProof="0" dirty="0">
                <a:solidFill>
                  <a:srgbClr val="334155"/>
                </a:solidFill>
                <a:latin typeface="DM Sans"/>
              </a:rPr>
              <a:t> para inspección y Retrospectivas para mejora continua.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4258" y="4330303"/>
            <a:ext cx="9508448" cy="1971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s-CL" sz="1200" b="1" i="0" u="none" noProof="0" dirty="0">
                <a:solidFill>
                  <a:srgbClr val="0F172A"/>
                </a:solidFill>
                <a:latin typeface="DM Sans SemiBold"/>
              </a:rPr>
              <a:t>Artefactos de Gestión:</a:t>
            </a:r>
            <a:r>
              <a:rPr lang="es-CL" sz="1200" b="1" i="0" u="none" noProof="0" dirty="0">
                <a:solidFill>
                  <a:srgbClr val="334155"/>
                </a:solidFill>
                <a:latin typeface="DM Sans"/>
              </a:rPr>
              <a:t> </a:t>
            </a:r>
            <a:r>
              <a:rPr lang="es-CL" sz="1087" b="0" i="0" u="none" noProof="0" dirty="0">
                <a:solidFill>
                  <a:srgbClr val="334155"/>
                </a:solidFill>
                <a:latin typeface="DM Sans"/>
              </a:rPr>
              <a:t>Backlog priorizado, </a:t>
            </a:r>
            <a:r>
              <a:rPr lang="es-CL" sz="1087" b="0" i="0" u="none" noProof="0" dirty="0" err="1">
                <a:solidFill>
                  <a:srgbClr val="334155"/>
                </a:solidFill>
                <a:latin typeface="DM Sans"/>
              </a:rPr>
              <a:t>Scrumboard</a:t>
            </a:r>
            <a:r>
              <a:rPr lang="es-CL" sz="1087" b="0" i="0" u="none" noProof="0" dirty="0">
                <a:solidFill>
                  <a:srgbClr val="334155"/>
                </a:solidFill>
                <a:latin typeface="DM Sans"/>
              </a:rPr>
              <a:t>, </a:t>
            </a:r>
            <a:r>
              <a:rPr lang="es-CL" sz="1087" b="0" i="0" u="none" noProof="0" dirty="0" err="1">
                <a:solidFill>
                  <a:srgbClr val="334155"/>
                </a:solidFill>
                <a:latin typeface="DM Sans"/>
              </a:rPr>
              <a:t>Burndown</a:t>
            </a:r>
            <a:r>
              <a:rPr lang="es-CL" sz="1087" b="0" i="0" u="none" noProof="0" dirty="0">
                <a:solidFill>
                  <a:srgbClr val="334155"/>
                </a:solidFill>
                <a:latin typeface="DM Sans"/>
              </a:rPr>
              <a:t> Chart y Registro de Impedimentos.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9972" y="1867161"/>
            <a:ext cx="288572" cy="26390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65657" y="2347912"/>
            <a:ext cx="216429" cy="192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s-CL" sz="1087" b="1" i="0" u="none" noProof="0" dirty="0">
                <a:solidFill>
                  <a:srgbClr val="D97706"/>
                </a:solidFill>
                <a:latin typeface="DM Sans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5657" y="2843510"/>
            <a:ext cx="216429" cy="192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s-CL" sz="1087" b="1" i="0" u="none" noProof="0" dirty="0">
                <a:solidFill>
                  <a:srgbClr val="D97706"/>
                </a:solidFill>
                <a:latin typeface="DM Sans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657" y="3339107"/>
            <a:ext cx="216429" cy="192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s-CL" sz="1087" b="1" i="0" u="none" noProof="0" dirty="0">
                <a:solidFill>
                  <a:srgbClr val="D97706"/>
                </a:solidFill>
                <a:latin typeface="DM San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657" y="3834705"/>
            <a:ext cx="216429" cy="192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s-CL" sz="1087" b="1" i="0" u="none" noProof="0" dirty="0">
                <a:solidFill>
                  <a:srgbClr val="D97706"/>
                </a:solidFill>
                <a:latin typeface="DM San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5657" y="4330303"/>
            <a:ext cx="216429" cy="192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s-CL" sz="1087" b="1" i="0" u="none" noProof="0" dirty="0">
                <a:solidFill>
                  <a:srgbClr val="D97706"/>
                </a:solidFill>
                <a:latin typeface="DM Sans"/>
              </a:rPr>
              <a:t>→</a:t>
            </a:r>
          </a:p>
        </p:txBody>
      </p:sp>
      <p:pic>
        <p:nvPicPr>
          <p:cNvPr id="23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3DA9B55F-7C0C-E175-A631-DE30DC853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74600"/>
            <a:ext cx="1841785" cy="460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8375" y="385762"/>
            <a:ext cx="1876425" cy="238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46809"/>
            <a:ext cx="10725912" cy="35728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981075"/>
            <a:ext cx="11734800" cy="3504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760"/>
              </a:lnSpc>
            </a:pPr>
            <a:r>
              <a:rPr lang="es-CL" sz="2400" b="1" i="0" u="none" noProof="0" dirty="0">
                <a:solidFill>
                  <a:srgbClr val="0F172A"/>
                </a:solidFill>
                <a:latin typeface="Poppins"/>
              </a:rPr>
              <a:t>Cronograma de Desarrollo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18683"/>
            <a:ext cx="112776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862" b="0" i="0" u="none" noProof="0" dirty="0">
                <a:solidFill>
                  <a:srgbClr val="64748B"/>
                </a:solidFill>
                <a:latin typeface="DM Sans"/>
              </a:rPr>
              <a:t>* Cumplimiento planificado y proyectado a lo largo de las 18 semanas de la Asignatura de Portafolio de Título.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564312"/>
              </p:ext>
            </p:extLst>
          </p:nvPr>
        </p:nvGraphicFramePr>
        <p:xfrm>
          <a:off x="457200" y="1846810"/>
          <a:ext cx="10725912" cy="35728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39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01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358">
                  <a:extLst>
                    <a:ext uri="{9D8B030D-6E8A-4147-A177-3AD203B41FA5}">
                      <a16:colId xmlns:a16="http://schemas.microsoft.com/office/drawing/2014/main" val="1905612902"/>
                    </a:ext>
                  </a:extLst>
                </a:gridCol>
                <a:gridCol w="366689">
                  <a:extLst>
                    <a:ext uri="{9D8B030D-6E8A-4147-A177-3AD203B41FA5}">
                      <a16:colId xmlns:a16="http://schemas.microsoft.com/office/drawing/2014/main" val="4099741174"/>
                    </a:ext>
                  </a:extLst>
                </a:gridCol>
                <a:gridCol w="394191">
                  <a:extLst>
                    <a:ext uri="{9D8B030D-6E8A-4147-A177-3AD203B41FA5}">
                      <a16:colId xmlns:a16="http://schemas.microsoft.com/office/drawing/2014/main" val="47645754"/>
                    </a:ext>
                  </a:extLst>
                </a:gridCol>
                <a:gridCol w="3666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5856">
                  <a:extLst>
                    <a:ext uri="{9D8B030D-6E8A-4147-A177-3AD203B41FA5}">
                      <a16:colId xmlns:a16="http://schemas.microsoft.com/office/drawing/2014/main" val="961427953"/>
                    </a:ext>
                  </a:extLst>
                </a:gridCol>
                <a:gridCol w="3666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8355">
                  <a:extLst>
                    <a:ext uri="{9D8B030D-6E8A-4147-A177-3AD203B41FA5}">
                      <a16:colId xmlns:a16="http://schemas.microsoft.com/office/drawing/2014/main" val="688327759"/>
                    </a:ext>
                  </a:extLst>
                </a:gridCol>
                <a:gridCol w="348355">
                  <a:extLst>
                    <a:ext uri="{9D8B030D-6E8A-4147-A177-3AD203B41FA5}">
                      <a16:colId xmlns:a16="http://schemas.microsoft.com/office/drawing/2014/main" val="3392729691"/>
                    </a:ext>
                  </a:extLst>
                </a:gridCol>
                <a:gridCol w="366689">
                  <a:extLst>
                    <a:ext uri="{9D8B030D-6E8A-4147-A177-3AD203B41FA5}">
                      <a16:colId xmlns:a16="http://schemas.microsoft.com/office/drawing/2014/main" val="2043283504"/>
                    </a:ext>
                  </a:extLst>
                </a:gridCol>
                <a:gridCol w="384856">
                  <a:extLst>
                    <a:ext uri="{9D8B030D-6E8A-4147-A177-3AD203B41FA5}">
                      <a16:colId xmlns:a16="http://schemas.microsoft.com/office/drawing/2014/main" val="394443940"/>
                    </a:ext>
                  </a:extLst>
                </a:gridCol>
                <a:gridCol w="356616">
                  <a:extLst>
                    <a:ext uri="{9D8B030D-6E8A-4147-A177-3AD203B41FA5}">
                      <a16:colId xmlns:a16="http://schemas.microsoft.com/office/drawing/2014/main" val="2011568570"/>
                    </a:ext>
                  </a:extLst>
                </a:gridCol>
                <a:gridCol w="368046">
                  <a:extLst>
                    <a:ext uri="{9D8B030D-6E8A-4147-A177-3AD203B41FA5}">
                      <a16:colId xmlns:a16="http://schemas.microsoft.com/office/drawing/2014/main" val="531516152"/>
                    </a:ext>
                  </a:extLst>
                </a:gridCol>
                <a:gridCol w="368046">
                  <a:extLst>
                    <a:ext uri="{9D8B030D-6E8A-4147-A177-3AD203B41FA5}">
                      <a16:colId xmlns:a16="http://schemas.microsoft.com/office/drawing/2014/main" val="3847071261"/>
                    </a:ext>
                  </a:extLst>
                </a:gridCol>
                <a:gridCol w="368046">
                  <a:extLst>
                    <a:ext uri="{9D8B030D-6E8A-4147-A177-3AD203B41FA5}">
                      <a16:colId xmlns:a16="http://schemas.microsoft.com/office/drawing/2014/main" val="2231509268"/>
                    </a:ext>
                  </a:extLst>
                </a:gridCol>
                <a:gridCol w="368046">
                  <a:extLst>
                    <a:ext uri="{9D8B030D-6E8A-4147-A177-3AD203B41FA5}">
                      <a16:colId xmlns:a16="http://schemas.microsoft.com/office/drawing/2014/main" val="488205510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4904">
                  <a:extLst>
                    <a:ext uri="{9D8B030D-6E8A-4147-A177-3AD203B41FA5}">
                      <a16:colId xmlns:a16="http://schemas.microsoft.com/office/drawing/2014/main" val="3020947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495548336"/>
                    </a:ext>
                  </a:extLst>
                </a:gridCol>
              </a:tblGrid>
              <a:tr h="349567">
                <a:tc rowSpan="2">
                  <a:txBody>
                    <a:bodyPr/>
                    <a:lstStyle/>
                    <a:p>
                      <a:pPr algn="ctr"/>
                      <a:r>
                        <a:rPr lang="es-CL" sz="900" b="0" i="0" u="none" noProof="0" dirty="0">
                          <a:solidFill>
                            <a:srgbClr val="FFFFFF"/>
                          </a:solidFill>
                          <a:latin typeface="DM Sans SemiBold"/>
                        </a:rPr>
                        <a:t>Actividad / Tarea Principal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B4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CL" sz="900" b="0" i="0" u="none" noProof="0" dirty="0">
                          <a:solidFill>
                            <a:srgbClr val="FFFFFF"/>
                          </a:solidFill>
                          <a:latin typeface="DM Sans SemiBold"/>
                        </a:rPr>
                        <a:t>Responsable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B49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s-CL" sz="900" b="0" i="0" u="none" noProof="0" dirty="0">
                          <a:solidFill>
                            <a:srgbClr val="FFFFFF"/>
                          </a:solidFill>
                          <a:latin typeface="DM Sans SemiBold"/>
                        </a:rPr>
                        <a:t>FASE 1: Definición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530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L" sz="900" b="0" i="0" u="none" noProof="0" dirty="0">
                        <a:solidFill>
                          <a:srgbClr val="FFFFFF"/>
                        </a:solidFill>
                        <a:latin typeface="DM Sans SemiBold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530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L" sz="900" b="0" i="0" u="none" noProof="0" dirty="0">
                        <a:solidFill>
                          <a:srgbClr val="FFFFFF"/>
                        </a:solidFill>
                        <a:latin typeface="DM Sans SemiBold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530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45309"/>
                    </a:solidFill>
                  </a:tcPr>
                </a:tc>
                <a:tc gridSpan="11">
                  <a:txBody>
                    <a:bodyPr/>
                    <a:lstStyle/>
                    <a:p>
                      <a:pPr algn="ctr"/>
                      <a:r>
                        <a:rPr lang="es-CL" sz="900" b="0" i="0" u="none" noProof="0" dirty="0">
                          <a:solidFill>
                            <a:srgbClr val="FFFFFF"/>
                          </a:solidFill>
                          <a:latin typeface="DM Sans SemiBold"/>
                        </a:rPr>
                        <a:t>FASE 2: Desarrollo e Integración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40A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0A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CL" sz="900" b="0" i="0" u="none" noProof="0" dirty="0">
                          <a:solidFill>
                            <a:srgbClr val="FFFFFF"/>
                          </a:solidFill>
                          <a:latin typeface="DM Sans SemiBold"/>
                        </a:rPr>
                        <a:t>FASE 3: Cierre y QA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785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>
                    <a:lnL w="12700" cmpd="sng"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567">
                <a:tc vMerge="1">
                  <a:txBody>
                    <a:bodyPr/>
                    <a:lstStyle/>
                    <a:p>
                      <a:pPr algn="ctr"/>
                      <a:endParaRPr lang="es-CL" sz="825" b="0" i="0" u="none" noProof="0" dirty="0">
                        <a:solidFill>
                          <a:srgbClr val="FFFFFF"/>
                        </a:solidFill>
                        <a:latin typeface="DM Sans SemiBold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B4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s-CL" sz="825" b="0" i="0" u="none" noProof="0" dirty="0">
                        <a:solidFill>
                          <a:srgbClr val="FFFFFF"/>
                        </a:solidFill>
                        <a:latin typeface="DM Sans SemiBold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825" b="0" i="0" u="none" noProof="0" dirty="0">
                          <a:solidFill>
                            <a:srgbClr val="FFFFFF"/>
                          </a:solidFill>
                          <a:latin typeface="DM Sans SemiBold"/>
                        </a:rPr>
                        <a:t>S1</a:t>
                      </a:r>
                      <a:endParaRPr lang="es-CL" sz="825" b="0" i="0" u="none" noProof="0" dirty="0">
                        <a:solidFill>
                          <a:srgbClr val="FFFFFF"/>
                        </a:solidFill>
                        <a:latin typeface="DM Sans SemiBold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825" b="0" i="0" u="none" noProof="0" dirty="0">
                          <a:solidFill>
                            <a:srgbClr val="FFFFFF"/>
                          </a:solidFill>
                          <a:latin typeface="DM Sans SemiBold"/>
                        </a:rPr>
                        <a:t>S2</a:t>
                      </a:r>
                      <a:endParaRPr lang="es-CL" sz="825" b="0" i="0" u="none" noProof="0" dirty="0">
                        <a:solidFill>
                          <a:srgbClr val="FFFFFF"/>
                        </a:solidFill>
                        <a:latin typeface="DM Sans SemiBold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825" b="0" i="0" u="none" noProof="0" dirty="0">
                          <a:solidFill>
                            <a:srgbClr val="FFFFFF"/>
                          </a:solidFill>
                          <a:latin typeface="DM Sans SemiBold"/>
                        </a:rPr>
                        <a:t>S3</a:t>
                      </a:r>
                      <a:endParaRPr lang="es-CL" sz="825" b="0" i="0" u="none" noProof="0" dirty="0">
                        <a:solidFill>
                          <a:srgbClr val="FFFFFF"/>
                        </a:solidFill>
                        <a:latin typeface="DM Sans SemiBold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25" b="0" i="0" u="none" noProof="0" dirty="0">
                          <a:solidFill>
                            <a:srgbClr val="FFFFFF"/>
                          </a:solidFill>
                          <a:latin typeface="DM Sans SemiBold"/>
                        </a:rPr>
                        <a:t>S4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825" b="0" i="0" u="none" noProof="0" dirty="0">
                          <a:solidFill>
                            <a:srgbClr val="FFFFFF"/>
                          </a:solidFill>
                          <a:latin typeface="DM Sans SemiBold"/>
                        </a:rPr>
                        <a:t>S5</a:t>
                      </a:r>
                      <a:endParaRPr lang="es-CL" sz="825" b="0" i="0" u="none" noProof="0" dirty="0">
                        <a:solidFill>
                          <a:srgbClr val="FFFFFF"/>
                        </a:solidFill>
                        <a:latin typeface="DM Sans SemiBold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25" b="0" i="0" u="none" noProof="0" dirty="0">
                          <a:solidFill>
                            <a:srgbClr val="FFFFFF"/>
                          </a:solidFill>
                          <a:latin typeface="DM Sans SemiBold"/>
                        </a:rPr>
                        <a:t>S6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825" b="0" i="0" u="none" noProof="0" dirty="0">
                          <a:solidFill>
                            <a:srgbClr val="FFFFFF"/>
                          </a:solidFill>
                          <a:latin typeface="DM Sans SemiBold"/>
                        </a:rPr>
                        <a:t>S7</a:t>
                      </a:r>
                      <a:endParaRPr lang="es-CL" sz="825" b="0" i="0" u="none" noProof="0" dirty="0">
                        <a:solidFill>
                          <a:srgbClr val="FFFFFF"/>
                        </a:solidFill>
                        <a:latin typeface="DM Sans SemiBold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825" b="0" i="0" u="none" noProof="0" dirty="0">
                          <a:solidFill>
                            <a:srgbClr val="FFFFFF"/>
                          </a:solidFill>
                          <a:latin typeface="DM Sans SemiBold"/>
                        </a:rPr>
                        <a:t>S8</a:t>
                      </a:r>
                      <a:endParaRPr lang="es-CL" sz="825" b="0" i="0" u="none" noProof="0" dirty="0">
                        <a:solidFill>
                          <a:srgbClr val="FFFFFF"/>
                        </a:solidFill>
                        <a:latin typeface="DM Sans SemiBold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825" b="0" i="0" u="none" noProof="0" dirty="0">
                          <a:solidFill>
                            <a:srgbClr val="FFFFFF"/>
                          </a:solidFill>
                          <a:latin typeface="DM Sans SemiBold"/>
                        </a:rPr>
                        <a:t>S9</a:t>
                      </a:r>
                      <a:endParaRPr lang="es-CL" sz="825" b="0" i="0" u="none" noProof="0" dirty="0">
                        <a:solidFill>
                          <a:srgbClr val="FFFFFF"/>
                        </a:solidFill>
                        <a:latin typeface="DM Sans SemiBold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825" b="0" i="0" u="none" noProof="0" dirty="0">
                          <a:solidFill>
                            <a:srgbClr val="FFFFFF"/>
                          </a:solidFill>
                          <a:latin typeface="DM Sans SemiBold"/>
                        </a:rPr>
                        <a:t>S10</a:t>
                      </a:r>
                      <a:endParaRPr lang="es-CL" sz="825" b="0" i="0" u="none" noProof="0" dirty="0">
                        <a:solidFill>
                          <a:srgbClr val="FFFFFF"/>
                        </a:solidFill>
                        <a:latin typeface="DM Sans SemiBold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825" b="0" i="0" u="none" noProof="0" dirty="0">
                          <a:solidFill>
                            <a:srgbClr val="FFFFFF"/>
                          </a:solidFill>
                          <a:latin typeface="DM Sans SemiBold"/>
                        </a:rPr>
                        <a:t>S11</a:t>
                      </a:r>
                      <a:endParaRPr lang="es-CL" sz="825" b="0" i="0" u="none" noProof="0" dirty="0">
                        <a:solidFill>
                          <a:srgbClr val="FFFFFF"/>
                        </a:solidFill>
                        <a:latin typeface="DM Sans SemiBold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825" b="0" i="0" u="none" noProof="0" dirty="0">
                          <a:solidFill>
                            <a:srgbClr val="FFFFFF"/>
                          </a:solidFill>
                          <a:latin typeface="DM Sans SemiBold"/>
                        </a:rPr>
                        <a:t>S12</a:t>
                      </a:r>
                      <a:endParaRPr lang="es-CL" sz="825" b="0" i="0" u="none" noProof="0" dirty="0">
                        <a:solidFill>
                          <a:srgbClr val="FFFFFF"/>
                        </a:solidFill>
                        <a:latin typeface="DM Sans SemiBold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825" b="0" i="0" u="none" noProof="0" dirty="0">
                          <a:solidFill>
                            <a:srgbClr val="FFFFFF"/>
                          </a:solidFill>
                          <a:latin typeface="DM Sans SemiBold"/>
                        </a:rPr>
                        <a:t>S13</a:t>
                      </a:r>
                      <a:endParaRPr lang="es-CL" sz="825" b="0" i="0" u="none" noProof="0" dirty="0">
                        <a:solidFill>
                          <a:srgbClr val="FFFFFF"/>
                        </a:solidFill>
                        <a:latin typeface="DM Sans SemiBold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825" b="0" i="0" u="none" noProof="0" dirty="0">
                          <a:solidFill>
                            <a:srgbClr val="FFFFFF"/>
                          </a:solidFill>
                          <a:latin typeface="DM Sans SemiBold"/>
                        </a:rPr>
                        <a:t>S14</a:t>
                      </a:r>
                      <a:endParaRPr lang="es-CL" sz="825" b="0" i="0" u="none" noProof="0" dirty="0">
                        <a:solidFill>
                          <a:srgbClr val="FFFFFF"/>
                        </a:solidFill>
                        <a:latin typeface="DM Sans SemiBold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825" b="0" i="0" u="none" noProof="0" dirty="0">
                          <a:solidFill>
                            <a:srgbClr val="FFFFFF"/>
                          </a:solidFill>
                          <a:latin typeface="DM Sans SemiBold"/>
                        </a:rPr>
                        <a:t>S15</a:t>
                      </a:r>
                      <a:endParaRPr lang="es-CL" sz="825" b="0" i="0" u="none" noProof="0" dirty="0">
                        <a:solidFill>
                          <a:srgbClr val="FFFFFF"/>
                        </a:solidFill>
                        <a:latin typeface="DM Sans SemiBold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825" b="0" i="0" u="none" noProof="0" dirty="0">
                          <a:solidFill>
                            <a:srgbClr val="FFFFFF"/>
                          </a:solidFill>
                          <a:latin typeface="DM Sans SemiBold"/>
                        </a:rPr>
                        <a:t>S16</a:t>
                      </a:r>
                      <a:endParaRPr lang="es-CL" sz="825" b="0" i="0" u="none" noProof="0" dirty="0">
                        <a:solidFill>
                          <a:srgbClr val="FFFFFF"/>
                        </a:solidFill>
                        <a:latin typeface="DM Sans SemiBold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825" b="0" i="0" u="none" noProof="0" dirty="0">
                          <a:solidFill>
                            <a:srgbClr val="FFFFFF"/>
                          </a:solidFill>
                          <a:latin typeface="DM Sans SemiBold"/>
                        </a:rPr>
                        <a:t>S17</a:t>
                      </a:r>
                      <a:endParaRPr lang="es-CL" sz="825" b="0" i="0" u="none" noProof="0" dirty="0">
                        <a:solidFill>
                          <a:srgbClr val="FFFFFF"/>
                        </a:solidFill>
                        <a:latin typeface="DM Sans SemiBold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825" b="0" i="0" u="none" noProof="0" dirty="0">
                          <a:solidFill>
                            <a:srgbClr val="FFFFFF"/>
                          </a:solidFill>
                          <a:latin typeface="DM Sans SemiBold"/>
                        </a:rPr>
                        <a:t>S18</a:t>
                      </a:r>
                      <a:endParaRPr lang="es-CL" sz="825" b="0" i="0" u="none" noProof="0" dirty="0">
                        <a:solidFill>
                          <a:srgbClr val="FFFFFF"/>
                        </a:solidFill>
                        <a:latin typeface="DM Sans SemiBold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B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567">
                <a:tc>
                  <a:txBody>
                    <a:bodyPr/>
                    <a:lstStyle/>
                    <a:p>
                      <a:r>
                        <a:rPr lang="es-MX" sz="1100" noProof="0" dirty="0"/>
                        <a:t>1. Levantamiento y alcance</a:t>
                      </a:r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MX" sz="1100" noProof="0" dirty="0"/>
                        <a:t>Jonatán Barrios</a:t>
                      </a:r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b="1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x</a:t>
                      </a:r>
                      <a:endParaRPr lang="es-CL" sz="1200" b="1" noProof="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b="1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x</a:t>
                      </a:r>
                      <a:endParaRPr lang="es-CL" sz="1200" b="1" noProof="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b="1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x</a:t>
                      </a:r>
                      <a:endParaRPr lang="es-CL" sz="1200" b="1" noProof="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b="1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x</a:t>
                      </a:r>
                      <a:endParaRPr lang="es-CL" sz="1200" b="1" noProof="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567">
                <a:tc>
                  <a:txBody>
                    <a:bodyPr/>
                    <a:lstStyle/>
                    <a:p>
                      <a:r>
                        <a:rPr lang="es-MX" sz="1100" noProof="0" dirty="0"/>
                        <a:t>2. Diseño arquitectura y base de datos</a:t>
                      </a:r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MX" sz="1100" noProof="0" dirty="0"/>
                        <a:t>N. Fernández / J. Barrios</a:t>
                      </a:r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b="1" noProof="0" dirty="0">
                          <a:solidFill>
                            <a:schemeClr val="tx2"/>
                          </a:solidFill>
                        </a:rPr>
                        <a:t>X</a:t>
                      </a:r>
                      <a:endParaRPr lang="es-CL" sz="1100" b="1" noProof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b="1" noProof="0" dirty="0">
                          <a:solidFill>
                            <a:schemeClr val="tx2"/>
                          </a:solidFill>
                        </a:rPr>
                        <a:t>X</a:t>
                      </a:r>
                      <a:endParaRPr lang="es-CL" sz="1100" b="1" noProof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567">
                <a:tc>
                  <a:txBody>
                    <a:bodyPr/>
                    <a:lstStyle/>
                    <a:p>
                      <a:r>
                        <a:rPr lang="es-MX" sz="1100" noProof="0" dirty="0"/>
                        <a:t>3. Seguridad </a:t>
                      </a:r>
                      <a:r>
                        <a:rPr lang="es-MX" sz="1100" noProof="0" dirty="0" err="1"/>
                        <a:t>Backend</a:t>
                      </a:r>
                      <a:r>
                        <a:rPr lang="es-MX" sz="1100" noProof="0" dirty="0"/>
                        <a:t> y Auth JWT</a:t>
                      </a:r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MX" sz="1100" noProof="0" dirty="0"/>
                        <a:t>Yuliana Román</a:t>
                      </a:r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b="1" noProof="0" dirty="0">
                          <a:solidFill>
                            <a:schemeClr val="tx2"/>
                          </a:solidFill>
                        </a:rPr>
                        <a:t>X</a:t>
                      </a:r>
                      <a:endParaRPr lang="es-CL" sz="1100" b="1" noProof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b="1" noProof="0" dirty="0">
                          <a:solidFill>
                            <a:schemeClr val="tx2"/>
                          </a:solidFill>
                        </a:rPr>
                        <a:t>X</a:t>
                      </a:r>
                      <a:endParaRPr lang="es-CL" sz="1100" b="1" noProof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567">
                <a:tc>
                  <a:txBody>
                    <a:bodyPr/>
                    <a:lstStyle/>
                    <a:p>
                      <a:r>
                        <a:rPr lang="es-MX" sz="1100" noProof="0" dirty="0"/>
                        <a:t>4. Prototipado e integración </a:t>
                      </a:r>
                      <a:r>
                        <a:rPr lang="es-MX" sz="1100" noProof="0" dirty="0" err="1"/>
                        <a:t>Frontend</a:t>
                      </a:r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MX" sz="1100" noProof="0" dirty="0"/>
                        <a:t>Nicolás Fernández</a:t>
                      </a:r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b="1" noProof="0" dirty="0">
                          <a:solidFill>
                            <a:schemeClr val="tx2"/>
                          </a:solidFill>
                        </a:rPr>
                        <a:t>X</a:t>
                      </a:r>
                      <a:endParaRPr lang="es-CL" sz="1100" b="1" noProof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b="1" noProof="0" dirty="0">
                          <a:solidFill>
                            <a:schemeClr val="tx2"/>
                          </a:solidFill>
                        </a:rPr>
                        <a:t>X</a:t>
                      </a:r>
                      <a:endParaRPr lang="es-CL" sz="1100" b="1" noProof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b="1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b="1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b="1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b="1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b="1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b="1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b="1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567">
                <a:tc>
                  <a:txBody>
                    <a:bodyPr/>
                    <a:lstStyle/>
                    <a:p>
                      <a:r>
                        <a:rPr lang="es-MX" sz="1100" noProof="0" dirty="0"/>
                        <a:t>5. Modulo vinculación y bitácora</a:t>
                      </a:r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MX" sz="1100" noProof="0" dirty="0"/>
                        <a:t>Yuliana Román</a:t>
                      </a:r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b="1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b="1" noProof="0" dirty="0">
                          <a:solidFill>
                            <a:schemeClr val="tx2"/>
                          </a:solidFill>
                        </a:rPr>
                        <a:t>X</a:t>
                      </a:r>
                      <a:endParaRPr lang="es-CL" sz="1100" b="1" noProof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b="1" noProof="0" dirty="0">
                          <a:solidFill>
                            <a:schemeClr val="tx2"/>
                          </a:solidFill>
                        </a:rPr>
                        <a:t>X</a:t>
                      </a:r>
                      <a:endParaRPr lang="es-CL" sz="1100" b="1" noProof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b="1" noProof="0" dirty="0">
                          <a:solidFill>
                            <a:schemeClr val="tx2"/>
                          </a:solidFill>
                        </a:rPr>
                        <a:t>X</a:t>
                      </a:r>
                      <a:endParaRPr lang="es-CL" sz="1100" b="1" noProof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b="1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b="1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b="1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b="1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b="1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567">
                <a:tc>
                  <a:txBody>
                    <a:bodyPr/>
                    <a:lstStyle/>
                    <a:p>
                      <a:r>
                        <a:rPr lang="es-MX" sz="1100" noProof="0" dirty="0"/>
                        <a:t>6. Modulo revisión e inmutabilidad</a:t>
                      </a:r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MX" sz="1100" noProof="0" dirty="0"/>
                        <a:t>Yuliana Román</a:t>
                      </a:r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b="1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b="1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b="1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b="1" noProof="0" dirty="0">
                          <a:solidFill>
                            <a:schemeClr val="tx2"/>
                          </a:solidFill>
                        </a:rPr>
                        <a:t>X</a:t>
                      </a:r>
                      <a:endParaRPr lang="es-CL" sz="1100" b="1" noProof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b="1" noProof="0" dirty="0">
                          <a:solidFill>
                            <a:schemeClr val="tx2"/>
                          </a:solidFill>
                        </a:rPr>
                        <a:t>X</a:t>
                      </a:r>
                      <a:endParaRPr lang="es-CL" sz="1100" b="1" noProof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b="1" noProof="0" dirty="0">
                          <a:solidFill>
                            <a:schemeClr val="tx2"/>
                          </a:solidFill>
                        </a:rPr>
                        <a:t>X</a:t>
                      </a:r>
                      <a:endParaRPr lang="es-CL" sz="1100" b="1" noProof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b="1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b="1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b="1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567">
                <a:tc>
                  <a:txBody>
                    <a:bodyPr/>
                    <a:lstStyle/>
                    <a:p>
                      <a:r>
                        <a:rPr lang="es-MX" sz="1100" noProof="0" dirty="0"/>
                        <a:t>7. </a:t>
                      </a:r>
                      <a:r>
                        <a:rPr lang="es-MX" sz="1100" noProof="0" dirty="0" err="1"/>
                        <a:t>Dashboard</a:t>
                      </a:r>
                      <a:r>
                        <a:rPr lang="es-MX" sz="1100" noProof="0" dirty="0"/>
                        <a:t> de métricas y reporte PDF</a:t>
                      </a:r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MX" sz="1100" noProof="0" dirty="0"/>
                        <a:t>Nicolás Fernández</a:t>
                      </a:r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b="1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b="1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b="1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b="1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b="1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b="1" noProof="0" dirty="0">
                          <a:solidFill>
                            <a:schemeClr val="tx2"/>
                          </a:solidFill>
                        </a:rPr>
                        <a:t>X</a:t>
                      </a:r>
                      <a:endParaRPr lang="es-CL" sz="1100" b="1" noProof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b="1" noProof="0" dirty="0">
                          <a:solidFill>
                            <a:schemeClr val="tx2"/>
                          </a:solidFill>
                        </a:rPr>
                        <a:t>X</a:t>
                      </a:r>
                      <a:endParaRPr lang="es-CL" sz="1100" b="1" noProof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b="1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b="1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9573">
                <a:tc>
                  <a:txBody>
                    <a:bodyPr/>
                    <a:lstStyle/>
                    <a:p>
                      <a:r>
                        <a:rPr lang="es-MX" sz="1100" noProof="0" dirty="0"/>
                        <a:t>8. Pruebas, documentación y cierre</a:t>
                      </a:r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MX" sz="1100" noProof="0" dirty="0"/>
                        <a:t>Jonatan Barrios</a:t>
                      </a:r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b="1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b="1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b="1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b="1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b="1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b="1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b="1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b="1" noProof="0" dirty="0">
                          <a:solidFill>
                            <a:schemeClr val="tx2"/>
                          </a:solidFill>
                        </a:rPr>
                        <a:t>X</a:t>
                      </a:r>
                      <a:endParaRPr lang="es-CL" sz="1100" b="1" noProof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b="1" noProof="0" dirty="0">
                          <a:solidFill>
                            <a:srgbClr val="008000"/>
                          </a:solidFill>
                        </a:rPr>
                        <a:t>X</a:t>
                      </a:r>
                      <a:endParaRPr lang="es-CL" sz="1100" b="1" noProof="0" dirty="0">
                        <a:solidFill>
                          <a:srgbClr val="008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11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10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A97413E9-BD84-1773-3D5F-852C461A6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74600"/>
            <a:ext cx="1841785" cy="460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8375" y="385762"/>
            <a:ext cx="1876425" cy="2381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981075"/>
            <a:ext cx="11734800" cy="3504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760"/>
              </a:lnSpc>
            </a:pPr>
            <a:r>
              <a:rPr lang="es-CL" sz="2400" b="1" i="0" u="none" noProof="0" dirty="0">
                <a:solidFill>
                  <a:srgbClr val="0F172A"/>
                </a:solidFill>
                <a:latin typeface="Poppins"/>
              </a:rPr>
              <a:t>Definición del Stack Tecnológico</a:t>
            </a:r>
          </a:p>
        </p:txBody>
      </p:sp>
      <p:pic>
        <p:nvPicPr>
          <p:cNvPr id="48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BDC1A430-92CD-84B7-D626-A7E9B73D0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74600"/>
            <a:ext cx="1841785" cy="460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3" descr="image.png">
            <a:extLst>
              <a:ext uri="{FF2B5EF4-FFF2-40B4-BE49-F238E27FC236}">
                <a16:creationId xmlns:a16="http://schemas.microsoft.com/office/drawing/2014/main" id="{6CCEF667-1EFD-1791-4736-FDDBCDCB93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483965"/>
            <a:ext cx="2148780" cy="5069234"/>
          </a:xfrm>
          <a:prstGeom prst="rect">
            <a:avLst/>
          </a:prstGeom>
        </p:spPr>
      </p:pic>
      <p:pic>
        <p:nvPicPr>
          <p:cNvPr id="52" name="Picture 4" descr="image.png">
            <a:extLst>
              <a:ext uri="{FF2B5EF4-FFF2-40B4-BE49-F238E27FC236}">
                <a16:creationId xmlns:a16="http://schemas.microsoft.com/office/drawing/2014/main" id="{4CB9AB8A-623D-2ABF-8A77-85F29DA029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39330" y="1483965"/>
            <a:ext cx="2148780" cy="5069234"/>
          </a:xfrm>
          <a:prstGeom prst="rect">
            <a:avLst/>
          </a:prstGeom>
        </p:spPr>
      </p:pic>
      <p:pic>
        <p:nvPicPr>
          <p:cNvPr id="54" name="Picture 5" descr="image.png">
            <a:extLst>
              <a:ext uri="{FF2B5EF4-FFF2-40B4-BE49-F238E27FC236}">
                <a16:creationId xmlns:a16="http://schemas.microsoft.com/office/drawing/2014/main" id="{06118D82-434E-B15D-0E96-57C87A7E44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1460" y="1483965"/>
            <a:ext cx="2148929" cy="5069234"/>
          </a:xfrm>
          <a:prstGeom prst="rect">
            <a:avLst/>
          </a:prstGeom>
        </p:spPr>
      </p:pic>
      <p:pic>
        <p:nvPicPr>
          <p:cNvPr id="56" name="Picture 6" descr="image.png">
            <a:extLst>
              <a:ext uri="{FF2B5EF4-FFF2-40B4-BE49-F238E27FC236}">
                <a16:creationId xmlns:a16="http://schemas.microsoft.com/office/drawing/2014/main" id="{5A5B22EA-948D-17B5-CF96-E963045F97C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03740" y="1483965"/>
            <a:ext cx="2148780" cy="5069234"/>
          </a:xfrm>
          <a:prstGeom prst="rect">
            <a:avLst/>
          </a:prstGeom>
        </p:spPr>
      </p:pic>
      <p:pic>
        <p:nvPicPr>
          <p:cNvPr id="58" name="Picture 7" descr="image.png">
            <a:extLst>
              <a:ext uri="{FF2B5EF4-FFF2-40B4-BE49-F238E27FC236}">
                <a16:creationId xmlns:a16="http://schemas.microsoft.com/office/drawing/2014/main" id="{F6AD5F4E-C2C7-517F-0E97-698191E7B34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85870" y="1483965"/>
            <a:ext cx="2148929" cy="5069234"/>
          </a:xfrm>
          <a:prstGeom prst="rect">
            <a:avLst/>
          </a:prstGeom>
        </p:spPr>
      </p:pic>
      <p:pic>
        <p:nvPicPr>
          <p:cNvPr id="60" name="Picture 10" descr="image.png">
            <a:extLst>
              <a:ext uri="{FF2B5EF4-FFF2-40B4-BE49-F238E27FC236}">
                <a16:creationId xmlns:a16="http://schemas.microsoft.com/office/drawing/2014/main" id="{0B79974B-CD1F-F519-B8D0-36B8EC0AC21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0075" y="1645890"/>
            <a:ext cx="361950" cy="361950"/>
          </a:xfrm>
          <a:prstGeom prst="rect">
            <a:avLst/>
          </a:prstGeom>
        </p:spPr>
      </p:pic>
      <p:sp>
        <p:nvSpPr>
          <p:cNvPr id="62" name="TextBox 11">
            <a:extLst>
              <a:ext uri="{FF2B5EF4-FFF2-40B4-BE49-F238E27FC236}">
                <a16:creationId xmlns:a16="http://schemas.microsoft.com/office/drawing/2014/main" id="{B397E039-0BEF-97E7-5378-7C9E9D636D61}"/>
              </a:ext>
            </a:extLst>
          </p:cNvPr>
          <p:cNvSpPr txBox="1"/>
          <p:nvPr/>
        </p:nvSpPr>
        <p:spPr>
          <a:xfrm>
            <a:off x="600075" y="2103090"/>
            <a:ext cx="1956181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125" b="1" i="0" u="none">
                <a:solidFill>
                  <a:srgbClr val="0F172A"/>
                </a:solidFill>
                <a:latin typeface="Poppins"/>
              </a:rPr>
              <a:t>Frontend SPA</a:t>
            </a:r>
          </a:p>
        </p:txBody>
      </p:sp>
      <p:sp>
        <p:nvSpPr>
          <p:cNvPr id="64" name="TextBox 12">
            <a:extLst>
              <a:ext uri="{FF2B5EF4-FFF2-40B4-BE49-F238E27FC236}">
                <a16:creationId xmlns:a16="http://schemas.microsoft.com/office/drawing/2014/main" id="{9F0442E8-DBA0-1E0D-0B2E-23C67F99F50E}"/>
              </a:ext>
            </a:extLst>
          </p:cNvPr>
          <p:cNvSpPr txBox="1"/>
          <p:nvPr/>
        </p:nvSpPr>
        <p:spPr>
          <a:xfrm>
            <a:off x="600075" y="2369790"/>
            <a:ext cx="1863030" cy="32309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14"/>
              </a:lnSpc>
            </a:pPr>
            <a:r>
              <a:rPr sz="900" b="0" i="0" u="none">
                <a:solidFill>
                  <a:srgbClr val="475569"/>
                </a:solidFill>
                <a:latin typeface="DM Sans"/>
              </a:rPr>
              <a:t>Interfaz reactiva SPA con componentes modulares, gráficos y vistas responsivas orientadas a UX.</a:t>
            </a:r>
          </a:p>
        </p:txBody>
      </p:sp>
      <p:pic>
        <p:nvPicPr>
          <p:cNvPr id="66" name="Picture 13" descr="image.png">
            <a:extLst>
              <a:ext uri="{FF2B5EF4-FFF2-40B4-BE49-F238E27FC236}">
                <a16:creationId xmlns:a16="http://schemas.microsoft.com/office/drawing/2014/main" id="{C83F5CF5-035E-0ED1-1D26-D00ED11E9C3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82205" y="1645890"/>
            <a:ext cx="361950" cy="361950"/>
          </a:xfrm>
          <a:prstGeom prst="rect">
            <a:avLst/>
          </a:prstGeom>
        </p:spPr>
      </p:pic>
      <p:sp>
        <p:nvSpPr>
          <p:cNvPr id="68" name="TextBox 14">
            <a:extLst>
              <a:ext uri="{FF2B5EF4-FFF2-40B4-BE49-F238E27FC236}">
                <a16:creationId xmlns:a16="http://schemas.microsoft.com/office/drawing/2014/main" id="{7137A947-AB6A-2E88-7E9E-DF2C6BE30467}"/>
              </a:ext>
            </a:extLst>
          </p:cNvPr>
          <p:cNvSpPr txBox="1"/>
          <p:nvPr/>
        </p:nvSpPr>
        <p:spPr>
          <a:xfrm>
            <a:off x="2882205" y="2103090"/>
            <a:ext cx="1956181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125" b="1" i="0" u="none">
                <a:solidFill>
                  <a:srgbClr val="0F172A"/>
                </a:solidFill>
                <a:latin typeface="Poppins"/>
              </a:rPr>
              <a:t>Backend API REST</a:t>
            </a:r>
          </a:p>
        </p:txBody>
      </p:sp>
      <p:sp>
        <p:nvSpPr>
          <p:cNvPr id="70" name="TextBox 15">
            <a:extLst>
              <a:ext uri="{FF2B5EF4-FFF2-40B4-BE49-F238E27FC236}">
                <a16:creationId xmlns:a16="http://schemas.microsoft.com/office/drawing/2014/main" id="{C2F254C8-AB7B-9D4E-6A36-B49466CFE2AF}"/>
              </a:ext>
            </a:extLst>
          </p:cNvPr>
          <p:cNvSpPr txBox="1"/>
          <p:nvPr/>
        </p:nvSpPr>
        <p:spPr>
          <a:xfrm>
            <a:off x="2882205" y="2369790"/>
            <a:ext cx="1863030" cy="32309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14"/>
              </a:lnSpc>
            </a:pPr>
            <a:r>
              <a:rPr sz="900" b="0" i="0" u="none">
                <a:solidFill>
                  <a:srgbClr val="475569"/>
                </a:solidFill>
                <a:latin typeface="DM Sans"/>
              </a:rPr>
              <a:t>Arquitectura multicapa desacoplada con servicios REST y control transaccional robusto.</a:t>
            </a:r>
          </a:p>
        </p:txBody>
      </p:sp>
      <p:pic>
        <p:nvPicPr>
          <p:cNvPr id="72" name="Picture 16" descr="image.png">
            <a:extLst>
              <a:ext uri="{FF2B5EF4-FFF2-40B4-BE49-F238E27FC236}">
                <a16:creationId xmlns:a16="http://schemas.microsoft.com/office/drawing/2014/main" id="{E643B6DC-652E-02E8-589B-FE8137BD1C6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64335" y="1645890"/>
            <a:ext cx="361950" cy="361950"/>
          </a:xfrm>
          <a:prstGeom prst="rect">
            <a:avLst/>
          </a:prstGeom>
        </p:spPr>
      </p:pic>
      <p:sp>
        <p:nvSpPr>
          <p:cNvPr id="74" name="TextBox 17">
            <a:extLst>
              <a:ext uri="{FF2B5EF4-FFF2-40B4-BE49-F238E27FC236}">
                <a16:creationId xmlns:a16="http://schemas.microsoft.com/office/drawing/2014/main" id="{26D68915-2FFB-C81D-04AE-EB6973F75FC7}"/>
              </a:ext>
            </a:extLst>
          </p:cNvPr>
          <p:cNvSpPr txBox="1"/>
          <p:nvPr/>
        </p:nvSpPr>
        <p:spPr>
          <a:xfrm>
            <a:off x="5164335" y="2103090"/>
            <a:ext cx="1956338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125" b="1" i="0" u="none">
                <a:solidFill>
                  <a:srgbClr val="0F172A"/>
                </a:solidFill>
                <a:latin typeface="Poppins"/>
              </a:rPr>
              <a:t>Seguridad &amp; Datos</a:t>
            </a:r>
          </a:p>
        </p:txBody>
      </p:sp>
      <p:sp>
        <p:nvSpPr>
          <p:cNvPr id="76" name="TextBox 18">
            <a:extLst>
              <a:ext uri="{FF2B5EF4-FFF2-40B4-BE49-F238E27FC236}">
                <a16:creationId xmlns:a16="http://schemas.microsoft.com/office/drawing/2014/main" id="{30D8477E-A445-D724-03A4-99C51E5134CE}"/>
              </a:ext>
            </a:extLst>
          </p:cNvPr>
          <p:cNvSpPr txBox="1"/>
          <p:nvPr/>
        </p:nvSpPr>
        <p:spPr>
          <a:xfrm>
            <a:off x="5164335" y="2369790"/>
            <a:ext cx="1863179" cy="29832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14"/>
              </a:lnSpc>
            </a:pPr>
            <a:r>
              <a:rPr sz="900" b="0" i="0" u="none">
                <a:solidFill>
                  <a:srgbClr val="475569"/>
                </a:solidFill>
                <a:latin typeface="DM Sans"/>
              </a:rPr>
              <a:t>Autenticación por roles, encriptación segura y persistencia relacional con integridad referencial.</a:t>
            </a:r>
          </a:p>
        </p:txBody>
      </p:sp>
      <p:pic>
        <p:nvPicPr>
          <p:cNvPr id="78" name="Picture 19" descr="image.png">
            <a:extLst>
              <a:ext uri="{FF2B5EF4-FFF2-40B4-BE49-F238E27FC236}">
                <a16:creationId xmlns:a16="http://schemas.microsoft.com/office/drawing/2014/main" id="{2687127E-253E-5871-8FE1-046432B7AE2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46615" y="1664940"/>
            <a:ext cx="361950" cy="361950"/>
          </a:xfrm>
          <a:prstGeom prst="rect">
            <a:avLst/>
          </a:prstGeom>
        </p:spPr>
      </p:pic>
      <p:sp>
        <p:nvSpPr>
          <p:cNvPr id="80" name="TextBox 20">
            <a:extLst>
              <a:ext uri="{FF2B5EF4-FFF2-40B4-BE49-F238E27FC236}">
                <a16:creationId xmlns:a16="http://schemas.microsoft.com/office/drawing/2014/main" id="{8EC577F0-0175-9A29-EB77-EDA0EF8D1E7E}"/>
              </a:ext>
            </a:extLst>
          </p:cNvPr>
          <p:cNvSpPr txBox="1"/>
          <p:nvPr/>
        </p:nvSpPr>
        <p:spPr>
          <a:xfrm>
            <a:off x="7446615" y="2122140"/>
            <a:ext cx="1956181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125" b="1" i="0" u="none">
                <a:solidFill>
                  <a:srgbClr val="065F46"/>
                </a:solidFill>
                <a:latin typeface="Poppins"/>
              </a:rPr>
              <a:t>QA &amp; Certificación</a:t>
            </a:r>
          </a:p>
        </p:txBody>
      </p:sp>
      <p:sp>
        <p:nvSpPr>
          <p:cNvPr id="82" name="TextBox 21">
            <a:extLst>
              <a:ext uri="{FF2B5EF4-FFF2-40B4-BE49-F238E27FC236}">
                <a16:creationId xmlns:a16="http://schemas.microsoft.com/office/drawing/2014/main" id="{0B4CC60C-A6CE-C16D-7E07-88B0B66DD046}"/>
              </a:ext>
            </a:extLst>
          </p:cNvPr>
          <p:cNvSpPr txBox="1"/>
          <p:nvPr/>
        </p:nvSpPr>
        <p:spPr>
          <a:xfrm>
            <a:off x="7446615" y="2388840"/>
            <a:ext cx="1863030" cy="29642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14"/>
              </a:lnSpc>
            </a:pPr>
            <a:r>
              <a:rPr sz="900" b="0" i="0" u="none">
                <a:solidFill>
                  <a:srgbClr val="475569"/>
                </a:solidFill>
                <a:latin typeface="DM Sans"/>
              </a:rPr>
              <a:t>Validación de endpoints, pruebas de integración y certificación de reglas críticas de negocio.</a:t>
            </a:r>
          </a:p>
        </p:txBody>
      </p:sp>
      <p:pic>
        <p:nvPicPr>
          <p:cNvPr id="84" name="Picture 22" descr="image.png">
            <a:extLst>
              <a:ext uri="{FF2B5EF4-FFF2-40B4-BE49-F238E27FC236}">
                <a16:creationId xmlns:a16="http://schemas.microsoft.com/office/drawing/2014/main" id="{A3203242-0449-1774-595C-9970AF40051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28745" y="1645890"/>
            <a:ext cx="361950" cy="361950"/>
          </a:xfrm>
          <a:prstGeom prst="rect">
            <a:avLst/>
          </a:prstGeom>
        </p:spPr>
      </p:pic>
      <p:sp>
        <p:nvSpPr>
          <p:cNvPr id="86" name="TextBox 23">
            <a:extLst>
              <a:ext uri="{FF2B5EF4-FFF2-40B4-BE49-F238E27FC236}">
                <a16:creationId xmlns:a16="http://schemas.microsoft.com/office/drawing/2014/main" id="{CACC9193-278E-9C3B-2E1D-CE5E849E9C54}"/>
              </a:ext>
            </a:extLst>
          </p:cNvPr>
          <p:cNvSpPr txBox="1"/>
          <p:nvPr/>
        </p:nvSpPr>
        <p:spPr>
          <a:xfrm>
            <a:off x="9728745" y="2103090"/>
            <a:ext cx="1956338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1125" b="1" i="0" u="none">
                <a:solidFill>
                  <a:srgbClr val="0F172A"/>
                </a:solidFill>
                <a:latin typeface="Poppins"/>
              </a:rPr>
              <a:t>DevOps &amp; Gestión</a:t>
            </a:r>
          </a:p>
        </p:txBody>
      </p:sp>
      <p:sp>
        <p:nvSpPr>
          <p:cNvPr id="88" name="TextBox 24">
            <a:extLst>
              <a:ext uri="{FF2B5EF4-FFF2-40B4-BE49-F238E27FC236}">
                <a16:creationId xmlns:a16="http://schemas.microsoft.com/office/drawing/2014/main" id="{584F411F-79EB-2CF3-1D30-4654EAC14B23}"/>
              </a:ext>
            </a:extLst>
          </p:cNvPr>
          <p:cNvSpPr txBox="1"/>
          <p:nvPr/>
        </p:nvSpPr>
        <p:spPr>
          <a:xfrm>
            <a:off x="9728745" y="2369790"/>
            <a:ext cx="1863179" cy="32309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14"/>
              </a:lnSpc>
            </a:pPr>
            <a:r>
              <a:rPr sz="900" b="0" i="0" u="none">
                <a:solidFill>
                  <a:srgbClr val="475569"/>
                </a:solidFill>
                <a:latin typeface="DM Sans"/>
              </a:rPr>
              <a:t>Contenerización reproducible local y gobernanza ágil colaborativa de código fuente.</a:t>
            </a:r>
          </a:p>
        </p:txBody>
      </p:sp>
      <p:pic>
        <p:nvPicPr>
          <p:cNvPr id="90" name="Picture 25" descr="image.png">
            <a:extLst>
              <a:ext uri="{FF2B5EF4-FFF2-40B4-BE49-F238E27FC236}">
                <a16:creationId xmlns:a16="http://schemas.microsoft.com/office/drawing/2014/main" id="{1D865A06-E3E2-141D-457C-78CA1EFC0D5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5325" y="1741140"/>
            <a:ext cx="171450" cy="171450"/>
          </a:xfrm>
          <a:prstGeom prst="rect">
            <a:avLst/>
          </a:prstGeom>
        </p:spPr>
      </p:pic>
      <p:pic>
        <p:nvPicPr>
          <p:cNvPr id="92" name="Picture 26" descr="image.png">
            <a:extLst>
              <a:ext uri="{FF2B5EF4-FFF2-40B4-BE49-F238E27FC236}">
                <a16:creationId xmlns:a16="http://schemas.microsoft.com/office/drawing/2014/main" id="{130FDED8-1628-8C4F-7C5C-317F6A39E03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0075" y="5695950"/>
            <a:ext cx="571500" cy="200025"/>
          </a:xfrm>
          <a:prstGeom prst="rect">
            <a:avLst/>
          </a:prstGeom>
        </p:spPr>
      </p:pic>
      <p:pic>
        <p:nvPicPr>
          <p:cNvPr id="94" name="Picture 27" descr="image.png">
            <a:extLst>
              <a:ext uri="{FF2B5EF4-FFF2-40B4-BE49-F238E27FC236}">
                <a16:creationId xmlns:a16="http://schemas.microsoft.com/office/drawing/2014/main" id="{1D71AF2A-0D7B-2D2F-3BA1-29091B4605A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19200" y="5695950"/>
            <a:ext cx="419100" cy="200025"/>
          </a:xfrm>
          <a:prstGeom prst="rect">
            <a:avLst/>
          </a:prstGeom>
        </p:spPr>
      </p:pic>
      <p:pic>
        <p:nvPicPr>
          <p:cNvPr id="96" name="Picture 28" descr="image.png">
            <a:extLst>
              <a:ext uri="{FF2B5EF4-FFF2-40B4-BE49-F238E27FC236}">
                <a16:creationId xmlns:a16="http://schemas.microsoft.com/office/drawing/2014/main" id="{68637AB9-4CAE-EDE5-13C2-CFC98089F57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0075" y="5943600"/>
            <a:ext cx="971550" cy="200025"/>
          </a:xfrm>
          <a:prstGeom prst="rect">
            <a:avLst/>
          </a:prstGeom>
        </p:spPr>
      </p:pic>
      <p:pic>
        <p:nvPicPr>
          <p:cNvPr id="98" name="Picture 29" descr="image.png">
            <a:extLst>
              <a:ext uri="{FF2B5EF4-FFF2-40B4-BE49-F238E27FC236}">
                <a16:creationId xmlns:a16="http://schemas.microsoft.com/office/drawing/2014/main" id="{4BDA1CB8-58FA-1DD0-EA9A-FC8B6D7398E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19250" y="5943600"/>
            <a:ext cx="542925" cy="200025"/>
          </a:xfrm>
          <a:prstGeom prst="rect">
            <a:avLst/>
          </a:prstGeom>
        </p:spPr>
      </p:pic>
      <p:pic>
        <p:nvPicPr>
          <p:cNvPr id="100" name="Picture 30" descr="image.png">
            <a:extLst>
              <a:ext uri="{FF2B5EF4-FFF2-40B4-BE49-F238E27FC236}">
                <a16:creationId xmlns:a16="http://schemas.microsoft.com/office/drawing/2014/main" id="{94F32493-201D-7319-1D8C-E31C1AF1319A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0075" y="6191250"/>
            <a:ext cx="419100" cy="200025"/>
          </a:xfrm>
          <a:prstGeom prst="rect">
            <a:avLst/>
          </a:prstGeom>
        </p:spPr>
      </p:pic>
      <p:pic>
        <p:nvPicPr>
          <p:cNvPr id="102" name="Picture 31" descr="image.png">
            <a:extLst>
              <a:ext uri="{FF2B5EF4-FFF2-40B4-BE49-F238E27FC236}">
                <a16:creationId xmlns:a16="http://schemas.microsoft.com/office/drawing/2014/main" id="{CAA888F2-8C5B-DACE-C184-97228BA60231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66800" y="6191250"/>
            <a:ext cx="762000" cy="200025"/>
          </a:xfrm>
          <a:prstGeom prst="rect">
            <a:avLst/>
          </a:prstGeom>
        </p:spPr>
      </p:pic>
      <p:pic>
        <p:nvPicPr>
          <p:cNvPr id="104" name="Picture 32" descr="image.png">
            <a:extLst>
              <a:ext uri="{FF2B5EF4-FFF2-40B4-BE49-F238E27FC236}">
                <a16:creationId xmlns:a16="http://schemas.microsoft.com/office/drawing/2014/main" id="{26816F7B-18D2-3410-3D98-D4F75E8D199F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996505" y="1741140"/>
            <a:ext cx="133350" cy="171450"/>
          </a:xfrm>
          <a:prstGeom prst="rect">
            <a:avLst/>
          </a:prstGeom>
        </p:spPr>
      </p:pic>
      <p:pic>
        <p:nvPicPr>
          <p:cNvPr id="106" name="Picture 33" descr="image.png">
            <a:extLst>
              <a:ext uri="{FF2B5EF4-FFF2-40B4-BE49-F238E27FC236}">
                <a16:creationId xmlns:a16="http://schemas.microsoft.com/office/drawing/2014/main" id="{528DDCD6-9044-EF49-6949-5FB25176CB82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882205" y="5695950"/>
            <a:ext cx="695325" cy="200025"/>
          </a:xfrm>
          <a:prstGeom prst="rect">
            <a:avLst/>
          </a:prstGeom>
        </p:spPr>
      </p:pic>
      <p:pic>
        <p:nvPicPr>
          <p:cNvPr id="108" name="Picture 34" descr="image.png">
            <a:extLst>
              <a:ext uri="{FF2B5EF4-FFF2-40B4-BE49-F238E27FC236}">
                <a16:creationId xmlns:a16="http://schemas.microsoft.com/office/drawing/2014/main" id="{0DFEDFB5-222C-42D7-0CEA-C99EBE318398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625155" y="5695950"/>
            <a:ext cx="847725" cy="200025"/>
          </a:xfrm>
          <a:prstGeom prst="rect">
            <a:avLst/>
          </a:prstGeom>
        </p:spPr>
      </p:pic>
      <p:pic>
        <p:nvPicPr>
          <p:cNvPr id="110" name="Picture 35" descr="image.png">
            <a:extLst>
              <a:ext uri="{FF2B5EF4-FFF2-40B4-BE49-F238E27FC236}">
                <a16:creationId xmlns:a16="http://schemas.microsoft.com/office/drawing/2014/main" id="{F7187D89-EB3B-48F7-3B7D-63D9D18E9753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882205" y="5943600"/>
            <a:ext cx="962025" cy="200025"/>
          </a:xfrm>
          <a:prstGeom prst="rect">
            <a:avLst/>
          </a:prstGeom>
        </p:spPr>
      </p:pic>
      <p:pic>
        <p:nvPicPr>
          <p:cNvPr id="112" name="Picture 36" descr="image.png">
            <a:extLst>
              <a:ext uri="{FF2B5EF4-FFF2-40B4-BE49-F238E27FC236}">
                <a16:creationId xmlns:a16="http://schemas.microsoft.com/office/drawing/2014/main" id="{98BDB1DF-FDBF-3391-7677-D7C6F7336037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891855" y="5943600"/>
            <a:ext cx="657225" cy="200025"/>
          </a:xfrm>
          <a:prstGeom prst="rect">
            <a:avLst/>
          </a:prstGeom>
        </p:spPr>
      </p:pic>
      <p:pic>
        <p:nvPicPr>
          <p:cNvPr id="116" name="Picture 38" descr="image.png">
            <a:extLst>
              <a:ext uri="{FF2B5EF4-FFF2-40B4-BE49-F238E27FC236}">
                <a16:creationId xmlns:a16="http://schemas.microsoft.com/office/drawing/2014/main" id="{6E17C367-A7F6-D1FF-2D78-7ECE12C09265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259585" y="1741140"/>
            <a:ext cx="171450" cy="171450"/>
          </a:xfrm>
          <a:prstGeom prst="rect">
            <a:avLst/>
          </a:prstGeom>
        </p:spPr>
      </p:pic>
      <p:pic>
        <p:nvPicPr>
          <p:cNvPr id="118" name="Picture 39" descr="image.png">
            <a:extLst>
              <a:ext uri="{FF2B5EF4-FFF2-40B4-BE49-F238E27FC236}">
                <a16:creationId xmlns:a16="http://schemas.microsoft.com/office/drawing/2014/main" id="{27ED0B3E-8EA7-CF41-1C15-03441EDDCD29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164335" y="5448300"/>
            <a:ext cx="895350" cy="200025"/>
          </a:xfrm>
          <a:prstGeom prst="rect">
            <a:avLst/>
          </a:prstGeom>
        </p:spPr>
      </p:pic>
      <p:pic>
        <p:nvPicPr>
          <p:cNvPr id="120" name="Picture 40" descr="image.png">
            <a:extLst>
              <a:ext uri="{FF2B5EF4-FFF2-40B4-BE49-F238E27FC236}">
                <a16:creationId xmlns:a16="http://schemas.microsoft.com/office/drawing/2014/main" id="{5C031AE4-25DD-7B9C-3AF4-F6C934D0542F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164335" y="5695950"/>
            <a:ext cx="962025" cy="200025"/>
          </a:xfrm>
          <a:prstGeom prst="rect">
            <a:avLst/>
          </a:prstGeom>
        </p:spPr>
      </p:pic>
      <p:pic>
        <p:nvPicPr>
          <p:cNvPr id="122" name="Picture 41" descr="image.png">
            <a:extLst>
              <a:ext uri="{FF2B5EF4-FFF2-40B4-BE49-F238E27FC236}">
                <a16:creationId xmlns:a16="http://schemas.microsoft.com/office/drawing/2014/main" id="{88475DA0-8203-4F01-F2DA-BB7502293D22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173985" y="5695950"/>
            <a:ext cx="762000" cy="200025"/>
          </a:xfrm>
          <a:prstGeom prst="rect">
            <a:avLst/>
          </a:prstGeom>
        </p:spPr>
      </p:pic>
      <p:pic>
        <p:nvPicPr>
          <p:cNvPr id="124" name="Picture 42" descr="image.png">
            <a:extLst>
              <a:ext uri="{FF2B5EF4-FFF2-40B4-BE49-F238E27FC236}">
                <a16:creationId xmlns:a16="http://schemas.microsoft.com/office/drawing/2014/main" id="{A0B30982-6ABB-C68A-7C63-9FC8BDEB28FF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164335" y="5943600"/>
            <a:ext cx="914400" cy="200025"/>
          </a:xfrm>
          <a:prstGeom prst="rect">
            <a:avLst/>
          </a:prstGeom>
        </p:spPr>
      </p:pic>
      <p:pic>
        <p:nvPicPr>
          <p:cNvPr id="126" name="Picture 43" descr="image.png">
            <a:extLst>
              <a:ext uri="{FF2B5EF4-FFF2-40B4-BE49-F238E27FC236}">
                <a16:creationId xmlns:a16="http://schemas.microsoft.com/office/drawing/2014/main" id="{1E38AC1B-3B70-D7ED-4267-665B97D2979B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164335" y="6191250"/>
            <a:ext cx="1019175" cy="200025"/>
          </a:xfrm>
          <a:prstGeom prst="rect">
            <a:avLst/>
          </a:prstGeom>
        </p:spPr>
      </p:pic>
      <p:pic>
        <p:nvPicPr>
          <p:cNvPr id="128" name="Picture 44" descr="image.png">
            <a:extLst>
              <a:ext uri="{FF2B5EF4-FFF2-40B4-BE49-F238E27FC236}">
                <a16:creationId xmlns:a16="http://schemas.microsoft.com/office/drawing/2014/main" id="{24E6F37B-3A71-4A2A-96AD-EB1D1CB1D790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541865" y="1760190"/>
            <a:ext cx="171450" cy="171450"/>
          </a:xfrm>
          <a:prstGeom prst="rect">
            <a:avLst/>
          </a:prstGeom>
        </p:spPr>
      </p:pic>
      <p:pic>
        <p:nvPicPr>
          <p:cNvPr id="130" name="Picture 45" descr="image.png">
            <a:extLst>
              <a:ext uri="{FF2B5EF4-FFF2-40B4-BE49-F238E27FC236}">
                <a16:creationId xmlns:a16="http://schemas.microsoft.com/office/drawing/2014/main" id="{28690DD3-4EB9-8903-8BDE-623F7DBC3F11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446615" y="5448300"/>
            <a:ext cx="1181100" cy="200025"/>
          </a:xfrm>
          <a:prstGeom prst="rect">
            <a:avLst/>
          </a:prstGeom>
        </p:spPr>
      </p:pic>
      <p:pic>
        <p:nvPicPr>
          <p:cNvPr id="132" name="Picture 46" descr="image.png">
            <a:extLst>
              <a:ext uri="{FF2B5EF4-FFF2-40B4-BE49-F238E27FC236}">
                <a16:creationId xmlns:a16="http://schemas.microsoft.com/office/drawing/2014/main" id="{0B14780D-7EC4-0C0C-4576-E5AB10B07C70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675340" y="5448300"/>
            <a:ext cx="504825" cy="200025"/>
          </a:xfrm>
          <a:prstGeom prst="rect">
            <a:avLst/>
          </a:prstGeom>
        </p:spPr>
      </p:pic>
      <p:pic>
        <p:nvPicPr>
          <p:cNvPr id="134" name="Picture 47" descr="image.png">
            <a:extLst>
              <a:ext uri="{FF2B5EF4-FFF2-40B4-BE49-F238E27FC236}">
                <a16:creationId xmlns:a16="http://schemas.microsoft.com/office/drawing/2014/main" id="{9713A82A-1796-FF31-B999-DBFBFB114B26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446615" y="5695950"/>
            <a:ext cx="561975" cy="200025"/>
          </a:xfrm>
          <a:prstGeom prst="rect">
            <a:avLst/>
          </a:prstGeom>
        </p:spPr>
      </p:pic>
      <p:pic>
        <p:nvPicPr>
          <p:cNvPr id="136" name="Picture 48" descr="image.png">
            <a:extLst>
              <a:ext uri="{FF2B5EF4-FFF2-40B4-BE49-F238E27FC236}">
                <a16:creationId xmlns:a16="http://schemas.microsoft.com/office/drawing/2014/main" id="{A9936D12-1C47-26AA-3EB4-7B7217BABDB4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056215" y="5695950"/>
            <a:ext cx="1009650" cy="200025"/>
          </a:xfrm>
          <a:prstGeom prst="rect">
            <a:avLst/>
          </a:prstGeom>
        </p:spPr>
      </p:pic>
      <p:pic>
        <p:nvPicPr>
          <p:cNvPr id="138" name="Picture 49" descr="image.png">
            <a:extLst>
              <a:ext uri="{FF2B5EF4-FFF2-40B4-BE49-F238E27FC236}">
                <a16:creationId xmlns:a16="http://schemas.microsoft.com/office/drawing/2014/main" id="{BE2D71EA-6C24-FDDC-8A49-201B597984EA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446615" y="5943600"/>
            <a:ext cx="1095375" cy="200025"/>
          </a:xfrm>
          <a:prstGeom prst="rect">
            <a:avLst/>
          </a:prstGeom>
        </p:spPr>
      </p:pic>
      <p:pic>
        <p:nvPicPr>
          <p:cNvPr id="140" name="Picture 50" descr="image.png">
            <a:extLst>
              <a:ext uri="{FF2B5EF4-FFF2-40B4-BE49-F238E27FC236}">
                <a16:creationId xmlns:a16="http://schemas.microsoft.com/office/drawing/2014/main" id="{8268B928-47F8-B6FE-0E2A-DEC3EBE8BA90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446615" y="6191250"/>
            <a:ext cx="1343025" cy="200025"/>
          </a:xfrm>
          <a:prstGeom prst="rect">
            <a:avLst/>
          </a:prstGeom>
        </p:spPr>
      </p:pic>
      <p:pic>
        <p:nvPicPr>
          <p:cNvPr id="142" name="Picture 51" descr="image.png">
            <a:extLst>
              <a:ext uri="{FF2B5EF4-FFF2-40B4-BE49-F238E27FC236}">
                <a16:creationId xmlns:a16="http://schemas.microsoft.com/office/drawing/2014/main" id="{FC68D1C1-1ED4-1942-EC99-E8F16FA68C41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800183" y="1741140"/>
            <a:ext cx="219075" cy="171450"/>
          </a:xfrm>
          <a:prstGeom prst="rect">
            <a:avLst/>
          </a:prstGeom>
        </p:spPr>
      </p:pic>
      <p:pic>
        <p:nvPicPr>
          <p:cNvPr id="144" name="Picture 52" descr="image.png">
            <a:extLst>
              <a:ext uri="{FF2B5EF4-FFF2-40B4-BE49-F238E27FC236}">
                <a16:creationId xmlns:a16="http://schemas.microsoft.com/office/drawing/2014/main" id="{97FEDF29-5D0F-D18A-3405-3DD029630D19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9728745" y="5695950"/>
            <a:ext cx="514350" cy="200025"/>
          </a:xfrm>
          <a:prstGeom prst="rect">
            <a:avLst/>
          </a:prstGeom>
        </p:spPr>
      </p:pic>
      <p:pic>
        <p:nvPicPr>
          <p:cNvPr id="146" name="Picture 53" descr="image.png">
            <a:extLst>
              <a:ext uri="{FF2B5EF4-FFF2-40B4-BE49-F238E27FC236}">
                <a16:creationId xmlns:a16="http://schemas.microsoft.com/office/drawing/2014/main" id="{FB7F042C-E288-4D1F-9C88-F9D6DAC2EDF7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0290720" y="5695950"/>
            <a:ext cx="1038225" cy="200025"/>
          </a:xfrm>
          <a:prstGeom prst="rect">
            <a:avLst/>
          </a:prstGeom>
        </p:spPr>
      </p:pic>
      <p:pic>
        <p:nvPicPr>
          <p:cNvPr id="148" name="Picture 54" descr="image.png">
            <a:extLst>
              <a:ext uri="{FF2B5EF4-FFF2-40B4-BE49-F238E27FC236}">
                <a16:creationId xmlns:a16="http://schemas.microsoft.com/office/drawing/2014/main" id="{111EC5E1-A966-1731-AE73-981B8804A747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9728745" y="5943600"/>
            <a:ext cx="809625" cy="200025"/>
          </a:xfrm>
          <a:prstGeom prst="rect">
            <a:avLst/>
          </a:prstGeom>
        </p:spPr>
      </p:pic>
      <p:pic>
        <p:nvPicPr>
          <p:cNvPr id="150" name="Picture 55" descr="image.png">
            <a:extLst>
              <a:ext uri="{FF2B5EF4-FFF2-40B4-BE49-F238E27FC236}">
                <a16:creationId xmlns:a16="http://schemas.microsoft.com/office/drawing/2014/main" id="{BC6DDA58-DB09-21A2-9DC2-CD988051B3F9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0585995" y="5943600"/>
            <a:ext cx="981075" cy="200025"/>
          </a:xfrm>
          <a:prstGeom prst="rect">
            <a:avLst/>
          </a:prstGeom>
        </p:spPr>
      </p:pic>
      <p:pic>
        <p:nvPicPr>
          <p:cNvPr id="152" name="Picture 56" descr="image.png">
            <a:extLst>
              <a:ext uri="{FF2B5EF4-FFF2-40B4-BE49-F238E27FC236}">
                <a16:creationId xmlns:a16="http://schemas.microsoft.com/office/drawing/2014/main" id="{FA3067AE-6BC6-3A44-8BA3-BD7C23C361B1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9728745" y="6191250"/>
            <a:ext cx="10287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1662" y="385762"/>
            <a:ext cx="2243137" cy="238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5137" y="4148137"/>
            <a:ext cx="2133600" cy="609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7337" y="4148137"/>
            <a:ext cx="1895475" cy="609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1412" y="4148137"/>
            <a:ext cx="1695450" cy="609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725703" y="2224087"/>
            <a:ext cx="4740592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5100" b="0" i="0" u="none" noProof="0" dirty="0">
                <a:solidFill>
                  <a:srgbClr val="0F172A"/>
                </a:solidFill>
                <a:latin typeface="Poppins ExtraBold"/>
              </a:rPr>
              <a:t>¿PREGUNTAS?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57500" y="3348037"/>
            <a:ext cx="647700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500" b="0" i="0" u="none" noProof="0" dirty="0">
                <a:solidFill>
                  <a:srgbClr val="475569"/>
                </a:solidFill>
                <a:latin typeface="DM Sans"/>
              </a:rPr>
              <a:t>Agradecemos su atención. Quedamos a disposición de la comisión docente para responder dudas, comentarios y retroalimentación.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52862" y="5138737"/>
            <a:ext cx="44862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050" b="0" i="0" u="none" noProof="0" dirty="0">
                <a:solidFill>
                  <a:srgbClr val="64748B"/>
                </a:solidFill>
                <a:latin typeface="DM Sans"/>
              </a:rPr>
              <a:t>Escuela de Informática y Telecomunicaciones · Duoc UC Sede Valparaíso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5162" y="4291012"/>
            <a:ext cx="17335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050" b="1" i="0" u="none" noProof="0" dirty="0">
                <a:solidFill>
                  <a:srgbClr val="0F172A"/>
                </a:solidFill>
                <a:latin typeface="DM Sans"/>
              </a:rPr>
              <a:t>Yuliana Román Briceño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5162" y="4462462"/>
            <a:ext cx="17335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900" b="0" i="0" u="none" noProof="0" dirty="0" err="1">
                <a:solidFill>
                  <a:srgbClr val="64748B"/>
                </a:solidFill>
                <a:latin typeface="DM Sans"/>
              </a:rPr>
              <a:t>Backend</a:t>
            </a:r>
            <a:r>
              <a:rPr lang="es-CL" sz="900" b="0" i="0" u="none" noProof="0" dirty="0">
                <a:solidFill>
                  <a:srgbClr val="64748B"/>
                </a:solidFill>
                <a:latin typeface="DM Sans"/>
              </a:rPr>
              <a:t> </a:t>
            </a:r>
            <a:r>
              <a:rPr lang="es-CL" sz="900" b="0" i="0" u="none" noProof="0" dirty="0" err="1">
                <a:solidFill>
                  <a:srgbClr val="64748B"/>
                </a:solidFill>
                <a:latin typeface="DM Sans"/>
              </a:rPr>
              <a:t>Developer</a:t>
            </a:r>
            <a:r>
              <a:rPr lang="es-CL" sz="900" b="0" i="0" u="none" noProof="0" dirty="0">
                <a:solidFill>
                  <a:srgbClr val="64748B"/>
                </a:solidFill>
                <a:latin typeface="DM Sans"/>
              </a:rPr>
              <a:t> &amp; Seguridad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67362" y="4291012"/>
            <a:ext cx="14954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050" b="1" i="0" u="none" noProof="0" dirty="0">
                <a:solidFill>
                  <a:srgbClr val="0F172A"/>
                </a:solidFill>
                <a:latin typeface="DM Sans"/>
              </a:rPr>
              <a:t>Nicolás </a:t>
            </a:r>
            <a:r>
              <a:rPr lang="es-CL" sz="1050" b="1" i="0" u="none" noProof="0" dirty="0" err="1">
                <a:solidFill>
                  <a:srgbClr val="0F172A"/>
                </a:solidFill>
                <a:latin typeface="DM Sans"/>
              </a:rPr>
              <a:t>Fernandez</a:t>
            </a:r>
            <a:endParaRPr lang="es-CL" sz="1050" b="1" i="0" u="none" noProof="0" dirty="0">
              <a:solidFill>
                <a:srgbClr val="0F172A"/>
              </a:solidFill>
              <a:latin typeface="DM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567362" y="4462462"/>
            <a:ext cx="14954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900" b="0" i="0" u="none" noProof="0" dirty="0" err="1">
                <a:solidFill>
                  <a:srgbClr val="64748B"/>
                </a:solidFill>
                <a:latin typeface="DM Sans"/>
              </a:rPr>
              <a:t>Frontend</a:t>
            </a:r>
            <a:r>
              <a:rPr lang="es-CL" sz="900" b="0" i="0" u="none" noProof="0" dirty="0">
                <a:solidFill>
                  <a:srgbClr val="64748B"/>
                </a:solidFill>
                <a:latin typeface="DM Sans"/>
              </a:rPr>
              <a:t> </a:t>
            </a:r>
            <a:r>
              <a:rPr lang="es-CL" sz="900" b="0" i="0" u="none" noProof="0" dirty="0" err="1">
                <a:solidFill>
                  <a:srgbClr val="64748B"/>
                </a:solidFill>
                <a:latin typeface="DM Sans"/>
              </a:rPr>
              <a:t>Developer</a:t>
            </a:r>
            <a:r>
              <a:rPr lang="es-CL" sz="900" b="0" i="0" u="none" noProof="0" dirty="0">
                <a:solidFill>
                  <a:srgbClr val="64748B"/>
                </a:solidFill>
                <a:latin typeface="DM Sans"/>
              </a:rPr>
              <a:t> &amp; UI/UX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1437" y="4291012"/>
            <a:ext cx="12954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050" b="1" i="0" u="none" noProof="0" dirty="0">
                <a:solidFill>
                  <a:srgbClr val="0F172A"/>
                </a:solidFill>
                <a:latin typeface="DM Sans"/>
              </a:rPr>
              <a:t>Jonatán Barrios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91437" y="4462462"/>
            <a:ext cx="1295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900" b="0" i="0" u="none" noProof="0" dirty="0">
                <a:solidFill>
                  <a:srgbClr val="64748B"/>
                </a:solidFill>
                <a:latin typeface="DM Sans"/>
              </a:rPr>
              <a:t>Lógica de Negocio &amp; QA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1074</Words>
  <Application>Microsoft Office PowerPoint</Application>
  <PresentationFormat>Panorámica</PresentationFormat>
  <Paragraphs>162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7" baseType="lpstr">
      <vt:lpstr>Arial</vt:lpstr>
      <vt:lpstr>Calibri</vt:lpstr>
      <vt:lpstr>DM Sans</vt:lpstr>
      <vt:lpstr>DM Sans Medium</vt:lpstr>
      <vt:lpstr>DM Sans SemiBold</vt:lpstr>
      <vt:lpstr>Poppins</vt:lpstr>
      <vt:lpstr>Poppins ExtraBold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YULIANA KATALINA ROMAN BRICENO</cp:lastModifiedBy>
  <cp:revision>3</cp:revision>
  <dcterms:created xsi:type="dcterms:W3CDTF">2013-01-27T09:14:16Z</dcterms:created>
  <dcterms:modified xsi:type="dcterms:W3CDTF">2026-09-04T18:27:44Z</dcterms:modified>
  <cp:category/>
</cp:coreProperties>
</file>